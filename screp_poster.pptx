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1"/>
  </p:sldMasterIdLst>
  <p:notesMasterIdLst>
    <p:notesMasterId r:id="rId3"/>
  </p:notesMasterIdLst>
  <p:sldIdLst>
    <p:sldId id="261" r:id="rId2"/>
  </p:sldIdLst>
  <p:sldSz cx="43891200" cy="32918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992">
          <p15:clr>
            <a:srgbClr val="A4A3A4"/>
          </p15:clr>
        </p15:guide>
        <p15:guide id="2" pos="13824">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C2C2"/>
    <a:srgbClr val="E6D3B3"/>
    <a:srgbClr val="C6B9CD"/>
    <a:srgbClr val="BFD8B8"/>
    <a:srgbClr val="A7C7E7"/>
    <a:srgbClr val="CC99FF"/>
    <a:srgbClr val="B8D8C4"/>
    <a:srgbClr val="E9FDF9"/>
    <a:srgbClr val="1F77B4"/>
    <a:srgbClr val="9AC9B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85" autoAdjust="0"/>
    <p:restoredTop sz="94630" autoAdjust="0"/>
  </p:normalViewPr>
  <p:slideViewPr>
    <p:cSldViewPr snapToGrid="0" showGuides="1">
      <p:cViewPr varScale="1">
        <p:scale>
          <a:sx n="24" d="100"/>
          <a:sy n="24" d="100"/>
        </p:scale>
        <p:origin x="1704" y="264"/>
      </p:cViewPr>
      <p:guideLst>
        <p:guide orient="horz" pos="10992"/>
        <p:guide pos="13824"/>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notesViewPr>
    <p:cSldViewPr snapToGrid="0">
      <p:cViewPr varScale="1">
        <p:scale>
          <a:sx n="120" d="100"/>
          <a:sy n="120" d="100"/>
        </p:scale>
        <p:origin x="1194" y="120"/>
      </p:cViewPr>
      <p:guideLst/>
    </p:cSldViewPr>
  </p:notes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Users\zolismith\Desktop\Lung%20Cancer%20Data%20Analysis%20z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zolismith\Desktop\Lung%20Cancer%20Data%20Analysis%20z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zolismith\Desktop\Lung%20Cancer%20Data%20Analysis%20zg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Users\zolismith\Desktop\Lung%20Cancer%20Data%20Analysis%20zg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Users\zolismith\Desktop\Lung%20Cancer%20Data%20Analysis%20zgs.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2800" b="1" i="0" u="none" strike="noStrike" kern="1200" spc="0" baseline="0">
                <a:solidFill>
                  <a:schemeClr val="tx1">
                    <a:lumMod val="65000"/>
                    <a:lumOff val="35000"/>
                  </a:schemeClr>
                </a:solidFill>
                <a:latin typeface="+mn-lt"/>
                <a:ea typeface="+mn-ea"/>
                <a:cs typeface="+mn-cs"/>
              </a:defRPr>
            </a:pPr>
            <a:r>
              <a:rPr lang="en-US" sz="2800" b="1" i="0" u="none" strike="noStrike" baseline="0"/>
              <a:t>Cancer Stage Distribution at Diagnosis (n=300)</a:t>
            </a:r>
            <a:endParaRPr lang="en-US" sz="2800" b="1"/>
          </a:p>
        </c:rich>
      </c:tx>
      <c:overlay val="0"/>
      <c:spPr>
        <a:noFill/>
        <a:ln>
          <a:noFill/>
        </a:ln>
        <a:effectLst/>
      </c:spPr>
      <c:txPr>
        <a:bodyPr rot="0" spcFirstLastPara="1" vertOverflow="ellipsis" vert="horz" wrap="square" anchor="ctr" anchorCtr="1"/>
        <a:lstStyle/>
        <a:p>
          <a:pPr>
            <a:defRPr sz="28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dLbls>
          <c:showLegendKey val="0"/>
          <c:showVal val="0"/>
          <c:showCatName val="0"/>
          <c:showSerName val="0"/>
          <c:showPercent val="1"/>
          <c:showBubbleSize val="0"/>
          <c:showLeaderLines val="0"/>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sz="3200" dirty="0"/>
              <a:t>Advanced Stage Disease by Race (n=300) </a:t>
            </a:r>
          </a:p>
        </c:rich>
      </c:tx>
      <c:layout>
        <c:manualLayout>
          <c:xMode val="edge"/>
          <c:yMode val="edge"/>
          <c:x val="0.12848469215275085"/>
          <c:y val="9.3117485165484543E-2"/>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5.2680446194225725E-2"/>
          <c:y val="0.19483814523184603"/>
          <c:w val="0.90287510936132986"/>
          <c:h val="0.72094889180519106"/>
        </c:manualLayout>
      </c:layout>
      <c:barChart>
        <c:barDir val="col"/>
        <c:grouping val="clustered"/>
        <c:varyColors val="0"/>
        <c:ser>
          <c:idx val="0"/>
          <c:order val="0"/>
          <c:tx>
            <c:strRef>
              <c:f>'Demographics Analysis'!$O$71</c:f>
              <c:strCache>
                <c:ptCount val="1"/>
                <c:pt idx="0">
                  <c:v>Advanced Stage (%)</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'Demographics Analysis'!$N$72:$N$76</c:f>
              <c:strCache>
                <c:ptCount val="5"/>
                <c:pt idx="0">
                  <c:v>Black</c:v>
                </c:pt>
                <c:pt idx="1">
                  <c:v>White</c:v>
                </c:pt>
                <c:pt idx="2">
                  <c:v>Hispanic</c:v>
                </c:pt>
                <c:pt idx="3">
                  <c:v>Asian</c:v>
                </c:pt>
                <c:pt idx="4">
                  <c:v>Other</c:v>
                </c:pt>
              </c:strCache>
            </c:strRef>
          </c:cat>
          <c:val>
            <c:numRef>
              <c:f>'Demographics Analysis'!$O$72:$O$76</c:f>
              <c:numCache>
                <c:formatCode>General</c:formatCode>
                <c:ptCount val="5"/>
                <c:pt idx="0">
                  <c:v>73.8</c:v>
                </c:pt>
                <c:pt idx="1">
                  <c:v>56.9</c:v>
                </c:pt>
                <c:pt idx="2">
                  <c:v>74.099999999999994</c:v>
                </c:pt>
                <c:pt idx="3">
                  <c:v>61.1</c:v>
                </c:pt>
                <c:pt idx="4">
                  <c:v>57.1</c:v>
                </c:pt>
              </c:numCache>
            </c:numRef>
          </c:val>
          <c:extLst>
            <c:ext xmlns:c16="http://schemas.microsoft.com/office/drawing/2014/chart" uri="{C3380CC4-5D6E-409C-BE32-E72D297353CC}">
              <c16:uniqueId val="{00000000-AC3B-43F2-B398-C1F79FF9B02C}"/>
            </c:ext>
          </c:extLst>
        </c:ser>
        <c:dLbls>
          <c:showLegendKey val="0"/>
          <c:showVal val="0"/>
          <c:showCatName val="0"/>
          <c:showSerName val="0"/>
          <c:showPercent val="0"/>
          <c:showBubbleSize val="0"/>
        </c:dLbls>
        <c:gapWidth val="100"/>
        <c:overlap val="-24"/>
        <c:axId val="1852789040"/>
        <c:axId val="1852703280"/>
      </c:barChart>
      <c:catAx>
        <c:axId val="1852789040"/>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2800" b="0" i="0" u="none" strike="noStrike" kern="1200" baseline="0">
                <a:solidFill>
                  <a:schemeClr val="tx1">
                    <a:lumMod val="65000"/>
                    <a:lumOff val="35000"/>
                  </a:schemeClr>
                </a:solidFill>
                <a:latin typeface="+mn-lt"/>
                <a:ea typeface="+mn-ea"/>
                <a:cs typeface="+mn-cs"/>
              </a:defRPr>
            </a:pPr>
            <a:endParaRPr lang="en-US"/>
          </a:p>
        </c:txPr>
        <c:crossAx val="1852703280"/>
        <c:crosses val="autoZero"/>
        <c:auto val="1"/>
        <c:lblAlgn val="ctr"/>
        <c:lblOffset val="100"/>
        <c:noMultiLvlLbl val="0"/>
      </c:catAx>
      <c:valAx>
        <c:axId val="1852703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27890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1" vertOverflow="ellipsis" vert="horz" wrap="square" anchor="ctr" anchorCtr="1"/>
          <a:lstStyle/>
          <a:p>
            <a:pPr>
              <a:defRPr sz="2800" b="1" i="0" u="none" strike="noStrike" kern="1200" cap="all" spc="50" baseline="0">
                <a:solidFill>
                  <a:schemeClr val="tx1">
                    <a:lumMod val="65000"/>
                    <a:lumOff val="35000"/>
                  </a:schemeClr>
                </a:solidFill>
                <a:latin typeface="+mn-lt"/>
                <a:ea typeface="+mn-ea"/>
                <a:cs typeface="+mn-cs"/>
              </a:defRPr>
            </a:pPr>
            <a:r>
              <a:rPr lang="en-US" sz="2800"/>
              <a:t>Distribution of Lung Cancer Types (n=300)</a:t>
            </a:r>
          </a:p>
        </c:rich>
      </c:tx>
      <c:overlay val="0"/>
      <c:spPr>
        <a:noFill/>
        <a:ln>
          <a:noFill/>
        </a:ln>
        <a:effectLst/>
      </c:spPr>
      <c:txPr>
        <a:bodyPr rot="0" spcFirstLastPara="1" vertOverflow="ellipsis" vert="horz" wrap="square" anchor="ctr" anchorCtr="1"/>
        <a:lstStyle/>
        <a:p>
          <a:pPr>
            <a:defRPr sz="2800" b="1" i="0" u="none" strike="noStrike" kern="1200" cap="all" spc="5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'Demographics Analysis'!$G$5</c:f>
              <c:strCache>
                <c:ptCount val="1"/>
                <c:pt idx="0">
                  <c:v>Count</c:v>
                </c:pt>
              </c:strCache>
            </c:strRef>
          </c:tx>
          <c:dPt>
            <c:idx val="0"/>
            <c:bubble3D val="0"/>
            <c:spPr>
              <a:solidFill>
                <a:schemeClr val="accent4">
                  <a:shade val="76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2610-CF40-9B41-183E00CAEE7C}"/>
              </c:ext>
            </c:extLst>
          </c:dPt>
          <c:dPt>
            <c:idx val="1"/>
            <c:bubble3D val="0"/>
            <c:spPr>
              <a:solidFill>
                <a:schemeClr val="accent4">
                  <a:tint val="77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2610-CF40-9B41-183E00CAEE7C}"/>
              </c:ext>
            </c:extLst>
          </c:dPt>
          <c:dLbls>
            <c:dLbl>
              <c:idx val="1"/>
              <c:tx>
                <c:rich>
                  <a:bodyPr/>
                  <a:lstStyle/>
                  <a:p>
                    <a:r>
                      <a:rPr lang="en-US"/>
                      <a:t>SCLC</a:t>
                    </a:r>
                    <a:r>
                      <a:rPr lang="en-US" baseline="0" dirty="0"/>
                      <a:t>
</a:t>
                    </a:r>
                    <a:fld id="{D857B5CF-C761-0A47-A0FB-316D7B644F46}" type="PERCENTAGE">
                      <a:rPr lang="en-US" baseline="0"/>
                      <a:pPr/>
                      <a:t>[PERCENTAGE]</a:t>
                    </a:fld>
                    <a:endParaRPr lang="en-US" baseline="0" dirty="0"/>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2610-CF40-9B41-183E00CAEE7C}"/>
                </c:ext>
              </c:extLst>
            </c:dLbl>
            <c:spPr>
              <a:noFill/>
              <a:ln>
                <a:noFill/>
              </a:ln>
              <a:effectLst/>
            </c:spPr>
            <c:txPr>
              <a:bodyPr rot="0" spcFirstLastPara="1" vertOverflow="ellipsis" vert="horz" wrap="square" lIns="38100" tIns="19050" rIns="38100" bIns="19050" anchor="ctr" anchorCtr="1">
                <a:spAutoFit/>
              </a:bodyPr>
              <a:lstStyle/>
              <a:p>
                <a:pPr>
                  <a:defRPr sz="2800" b="1" i="0" u="none" strike="noStrike" kern="1200" baseline="0">
                    <a:solidFill>
                      <a:schemeClr val="lt1"/>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'Demographics Analysis'!$F$6:$F$7</c:f>
              <c:strCache>
                <c:ptCount val="2"/>
                <c:pt idx="0">
                  <c:v>NSCLC</c:v>
                </c:pt>
                <c:pt idx="1">
                  <c:v>SCLC</c:v>
                </c:pt>
              </c:strCache>
            </c:strRef>
          </c:cat>
          <c:val>
            <c:numRef>
              <c:f>'Demographics Analysis'!$G$6:$G$7</c:f>
              <c:numCache>
                <c:formatCode>General</c:formatCode>
                <c:ptCount val="2"/>
                <c:pt idx="0">
                  <c:v>240</c:v>
                </c:pt>
                <c:pt idx="1">
                  <c:v>60</c:v>
                </c:pt>
              </c:numCache>
            </c:numRef>
          </c:val>
          <c:extLst>
            <c:ext xmlns:c16="http://schemas.microsoft.com/office/drawing/2014/chart" uri="{C3380CC4-5D6E-409C-BE32-E72D297353CC}">
              <c16:uniqueId val="{00000004-2610-CF40-9B41-183E00CAEE7C}"/>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1" vertOverflow="ellipsis" vert="horz" wrap="square" anchor="ctr" anchorCtr="1"/>
          <a:lstStyle/>
          <a:p>
            <a:pPr>
              <a:defRPr sz="3360" b="1" i="0" u="none" strike="noStrike" kern="1200" cap="all" spc="50" baseline="0">
                <a:solidFill>
                  <a:schemeClr val="tx1">
                    <a:lumMod val="65000"/>
                    <a:lumOff val="35000"/>
                  </a:schemeClr>
                </a:solidFill>
                <a:latin typeface="+mn-lt"/>
                <a:ea typeface="+mn-ea"/>
                <a:cs typeface="+mn-cs"/>
              </a:defRPr>
            </a:pPr>
            <a:r>
              <a:rPr lang="en-US"/>
              <a:t>Race distribution (n=300)</a:t>
            </a:r>
          </a:p>
        </c:rich>
      </c:tx>
      <c:overlay val="0"/>
      <c:spPr>
        <a:noFill/>
        <a:ln>
          <a:noFill/>
        </a:ln>
        <a:effectLst/>
      </c:spPr>
      <c:txPr>
        <a:bodyPr rot="0" spcFirstLastPara="1" vertOverflow="ellipsis" vert="horz" wrap="square" anchor="ctr" anchorCtr="1"/>
        <a:lstStyle/>
        <a:p>
          <a:pPr>
            <a:defRPr sz="3360" b="1" i="0" u="none" strike="noStrike" kern="1200" cap="all" spc="5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'Demographics Analysis'!$B$5</c:f>
              <c:strCache>
                <c:ptCount val="1"/>
                <c:pt idx="0">
                  <c:v>Count</c:v>
                </c:pt>
              </c:strCache>
            </c:strRef>
          </c:tx>
          <c:dPt>
            <c:idx val="0"/>
            <c:bubble3D val="0"/>
            <c:spPr>
              <a:solidFill>
                <a:schemeClr val="accent4">
                  <a:shade val="53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2333-E747-BEBD-098A25BAEC85}"/>
              </c:ext>
            </c:extLst>
          </c:dPt>
          <c:dPt>
            <c:idx val="1"/>
            <c:bubble3D val="0"/>
            <c:spPr>
              <a:solidFill>
                <a:schemeClr val="accent4">
                  <a:shade val="76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2333-E747-BEBD-098A25BAEC85}"/>
              </c:ext>
            </c:extLst>
          </c:dPt>
          <c:dPt>
            <c:idx val="2"/>
            <c:bubble3D val="0"/>
            <c:spPr>
              <a:solidFill>
                <a:schemeClr val="accent4"/>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5-2333-E747-BEBD-098A25BAEC85}"/>
              </c:ext>
            </c:extLst>
          </c:dPt>
          <c:dPt>
            <c:idx val="3"/>
            <c:bubble3D val="0"/>
            <c:spPr>
              <a:solidFill>
                <a:schemeClr val="accent4">
                  <a:tint val="77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7-2333-E747-BEBD-098A25BAEC85}"/>
              </c:ext>
            </c:extLst>
          </c:dPt>
          <c:dPt>
            <c:idx val="4"/>
            <c:bubble3D val="0"/>
            <c:spPr>
              <a:solidFill>
                <a:schemeClr val="accent4">
                  <a:tint val="54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9-2333-E747-BEBD-098A25BAEC85}"/>
              </c:ext>
            </c:extLst>
          </c:dPt>
          <c:dLbls>
            <c:dLbl>
              <c:idx val="0"/>
              <c:tx>
                <c:rich>
                  <a:bodyPr rot="0" spcFirstLastPara="1" vertOverflow="ellipsis" vert="horz" wrap="square" anchor="ctr" anchorCtr="1"/>
                  <a:lstStyle/>
                  <a:p>
                    <a:pPr>
                      <a:defRPr sz="2800" b="1" i="0" u="none" strike="noStrike" kern="1200" baseline="0">
                        <a:solidFill>
                          <a:schemeClr val="lt1"/>
                        </a:solidFill>
                        <a:latin typeface="+mn-lt"/>
                        <a:ea typeface="+mn-ea"/>
                        <a:cs typeface="+mn-cs"/>
                      </a:defRPr>
                    </a:pPr>
                    <a:fld id="{26DD047B-2577-3848-971D-68461F1AF19C}" type="CATEGORYNAME">
                      <a:rPr lang="en-US"/>
                      <a:pPr>
                        <a:defRPr/>
                      </a:pPr>
                      <a:t>[CATEGORY NAME]</a:t>
                    </a:fld>
                    <a:r>
                      <a:rPr lang="en-US"/>
                      <a:t>  </a:t>
                    </a:r>
                    <a:fld id="{480920DB-A1C9-DC4F-92CB-E1A14BF5BFEE}" type="PERCENTAGE">
                      <a:rPr lang="en-US"/>
                      <a:pPr>
                        <a:defRPr/>
                      </a:pPr>
                      <a:t>[PERCENTAGE]</a:t>
                    </a:fld>
                    <a:endParaRPr lang="en-US"/>
                  </a:p>
                </c:rich>
              </c:tx>
              <c:numFmt formatCode="0.0%" sourceLinked="0"/>
              <c:spPr>
                <a:noFill/>
                <a:ln>
                  <a:noFill/>
                </a:ln>
                <a:effectLst/>
              </c:spPr>
              <c:txPr>
                <a:bodyPr rot="0" spcFirstLastPara="1" vertOverflow="ellipsis" vert="horz" wrap="square" anchor="ctr" anchorCtr="1"/>
                <a:lstStyle/>
                <a:p>
                  <a:pPr>
                    <a:defRPr sz="2800" b="1" i="0" u="none" strike="noStrike" kern="1200" baseline="0">
                      <a:solidFill>
                        <a:schemeClr val="lt1"/>
                      </a:solidFill>
                      <a:latin typeface="+mn-lt"/>
                      <a:ea typeface="+mn-ea"/>
                      <a:cs typeface="+mn-cs"/>
                    </a:defRPr>
                  </a:pPr>
                  <a:endParaRPr lang="en-US"/>
                </a:p>
              </c:txPr>
              <c:showLegendKey val="0"/>
              <c:showVal val="0"/>
              <c:showCatName val="1"/>
              <c:showSerName val="0"/>
              <c:showPercent val="1"/>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1-2333-E747-BEBD-098A25BAEC85}"/>
                </c:ext>
              </c:extLst>
            </c:dLbl>
            <c:dLbl>
              <c:idx val="1"/>
              <c:numFmt formatCode="0.0%" sourceLinked="0"/>
              <c:spPr>
                <a:noFill/>
                <a:ln>
                  <a:noFill/>
                </a:ln>
                <a:effectLst/>
              </c:spPr>
              <c:txPr>
                <a:bodyPr rot="0" spcFirstLastPara="1" vertOverflow="ellipsis" vert="horz" wrap="square" anchor="ctr" anchorCtr="1"/>
                <a:lstStyle/>
                <a:p>
                  <a:pPr>
                    <a:defRPr sz="2800" b="1" i="0" u="none" strike="noStrike" kern="1200" baseline="0">
                      <a:solidFill>
                        <a:schemeClr val="lt1"/>
                      </a:solidFill>
                      <a:latin typeface="+mn-lt"/>
                      <a:ea typeface="+mn-ea"/>
                      <a:cs typeface="+mn-cs"/>
                    </a:defRPr>
                  </a:pPr>
                  <a:endParaRPr lang="en-US"/>
                </a:p>
              </c:txPr>
              <c:showLegendKey val="0"/>
              <c:showVal val="0"/>
              <c:showCatName val="1"/>
              <c:showSerName val="0"/>
              <c:showPercent val="1"/>
              <c:showBubbleSize val="0"/>
              <c:extLst>
                <c:ext xmlns:c16="http://schemas.microsoft.com/office/drawing/2014/chart" uri="{C3380CC4-5D6E-409C-BE32-E72D297353CC}">
                  <c16:uniqueId val="{00000003-2333-E747-BEBD-098A25BAEC85}"/>
                </c:ext>
              </c:extLst>
            </c:dLbl>
            <c:dLbl>
              <c:idx val="2"/>
              <c:numFmt formatCode="0.0%" sourceLinked="0"/>
              <c:spPr>
                <a:noFill/>
                <a:ln>
                  <a:noFill/>
                </a:ln>
                <a:effectLst/>
              </c:spPr>
              <c:txPr>
                <a:bodyPr rot="0" spcFirstLastPara="1" vertOverflow="ellipsis" vert="horz" wrap="square" anchor="ctr" anchorCtr="1"/>
                <a:lstStyle/>
                <a:p>
                  <a:pPr>
                    <a:defRPr sz="2800" b="1" i="0" u="none" strike="noStrike" kern="1200" baseline="0">
                      <a:solidFill>
                        <a:schemeClr val="lt1"/>
                      </a:solidFill>
                      <a:latin typeface="+mn-lt"/>
                      <a:ea typeface="+mn-ea"/>
                      <a:cs typeface="+mn-cs"/>
                    </a:defRPr>
                  </a:pPr>
                  <a:endParaRPr lang="en-US"/>
                </a:p>
              </c:txPr>
              <c:showLegendKey val="0"/>
              <c:showVal val="0"/>
              <c:showCatName val="1"/>
              <c:showSerName val="0"/>
              <c:showPercent val="1"/>
              <c:showBubbleSize val="0"/>
              <c:extLst>
                <c:ext xmlns:c16="http://schemas.microsoft.com/office/drawing/2014/chart" uri="{C3380CC4-5D6E-409C-BE32-E72D297353CC}">
                  <c16:uniqueId val="{00000005-2333-E747-BEBD-098A25BAEC85}"/>
                </c:ext>
              </c:extLst>
            </c:dLbl>
            <c:dLbl>
              <c:idx val="3"/>
              <c:numFmt formatCode="0.0%" sourceLinked="0"/>
              <c:spPr>
                <a:noFill/>
                <a:ln>
                  <a:noFill/>
                </a:ln>
                <a:effectLst/>
              </c:spPr>
              <c:txPr>
                <a:bodyPr rot="0" spcFirstLastPara="1" vertOverflow="ellipsis" vert="horz" wrap="square" anchor="ctr" anchorCtr="1"/>
                <a:lstStyle/>
                <a:p>
                  <a:pPr>
                    <a:defRPr sz="2800" b="1" i="0" u="none" strike="noStrike" kern="1200" baseline="0">
                      <a:solidFill>
                        <a:schemeClr val="lt1"/>
                      </a:solidFill>
                      <a:latin typeface="+mn-lt"/>
                      <a:ea typeface="+mn-ea"/>
                      <a:cs typeface="+mn-cs"/>
                    </a:defRPr>
                  </a:pPr>
                  <a:endParaRPr lang="en-US"/>
                </a:p>
              </c:txPr>
              <c:showLegendKey val="0"/>
              <c:showVal val="0"/>
              <c:showCatName val="1"/>
              <c:showSerName val="0"/>
              <c:showPercent val="1"/>
              <c:showBubbleSize val="0"/>
              <c:extLst>
                <c:ext xmlns:c16="http://schemas.microsoft.com/office/drawing/2014/chart" uri="{C3380CC4-5D6E-409C-BE32-E72D297353CC}">
                  <c16:uniqueId val="{00000007-2333-E747-BEBD-098A25BAEC85}"/>
                </c:ext>
              </c:extLst>
            </c:dLbl>
            <c:dLbl>
              <c:idx val="4"/>
              <c:layout>
                <c:manualLayout>
                  <c:x val="-5.6393984534864633E-2"/>
                  <c:y val="3.2832007375363883E-3"/>
                </c:manualLayout>
              </c:layout>
              <c:numFmt formatCode="0.0%" sourceLinked="0"/>
              <c:spPr>
                <a:noFill/>
                <a:ln>
                  <a:noFill/>
                </a:ln>
                <a:effectLst/>
              </c:spPr>
              <c:txPr>
                <a:bodyPr rot="0" spcFirstLastPara="1" vertOverflow="ellipsis" vert="horz" wrap="square" anchor="ctr" anchorCtr="1"/>
                <a:lstStyle/>
                <a:p>
                  <a:pPr>
                    <a:defRPr sz="2800" b="1" i="0" u="none" strike="noStrike" kern="1200" baseline="0">
                      <a:solidFill>
                        <a:schemeClr val="tx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9-2333-E747-BEBD-098A25BAEC85}"/>
                </c:ext>
              </c:extLst>
            </c:dLbl>
            <c:spPr>
              <a:noFill/>
              <a:ln>
                <a:noFill/>
              </a:ln>
              <a:effectLst/>
            </c:spPr>
            <c:txPr>
              <a:bodyPr rot="0" spcFirstLastPara="1" vertOverflow="ellipsis" vert="horz" wrap="square" anchor="ctr" anchorCtr="1"/>
              <a:lstStyle/>
              <a:p>
                <a:pPr>
                  <a:defRPr sz="2800" b="1" i="0" u="none" strike="noStrike" kern="1200" baseline="0">
                    <a:solidFill>
                      <a:schemeClr val="lt1"/>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'Demographics Analysis'!$A$6:$A$10</c:f>
              <c:strCache>
                <c:ptCount val="5"/>
                <c:pt idx="0">
                  <c:v>Black</c:v>
                </c:pt>
                <c:pt idx="1">
                  <c:v>White</c:v>
                </c:pt>
                <c:pt idx="2">
                  <c:v>Hispanic</c:v>
                </c:pt>
                <c:pt idx="3">
                  <c:v>Asian</c:v>
                </c:pt>
                <c:pt idx="4">
                  <c:v>Other</c:v>
                </c:pt>
              </c:strCache>
            </c:strRef>
          </c:cat>
          <c:val>
            <c:numRef>
              <c:f>'Demographics Analysis'!$B$6:$B$10</c:f>
              <c:numCache>
                <c:formatCode>General</c:formatCode>
                <c:ptCount val="5"/>
                <c:pt idx="0">
                  <c:v>183</c:v>
                </c:pt>
                <c:pt idx="1">
                  <c:v>58</c:v>
                </c:pt>
                <c:pt idx="2">
                  <c:v>27</c:v>
                </c:pt>
                <c:pt idx="3">
                  <c:v>18</c:v>
                </c:pt>
                <c:pt idx="4">
                  <c:v>14</c:v>
                </c:pt>
              </c:numCache>
            </c:numRef>
          </c:val>
          <c:extLst>
            <c:ext xmlns:c16="http://schemas.microsoft.com/office/drawing/2014/chart" uri="{C3380CC4-5D6E-409C-BE32-E72D297353CC}">
              <c16:uniqueId val="{0000000A-2333-E747-BEBD-098A25BAEC85}"/>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800"/>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1" vertOverflow="ellipsis" vert="horz" wrap="square" anchor="ctr" anchorCtr="1"/>
          <a:lstStyle/>
          <a:p>
            <a:pPr>
              <a:defRPr sz="2760" b="0" i="0" u="none" strike="noStrike" kern="1200" spc="0" baseline="0">
                <a:solidFill>
                  <a:schemeClr val="tx1">
                    <a:lumMod val="65000"/>
                    <a:lumOff val="35000"/>
                  </a:schemeClr>
                </a:solidFill>
                <a:latin typeface="+mn-lt"/>
                <a:ea typeface="+mn-ea"/>
                <a:cs typeface="+mn-cs"/>
              </a:defRPr>
            </a:pPr>
            <a:r>
              <a:rPr lang="en-US"/>
              <a:t>Cancer Stage Distribution at Diagnosis (n=300)</a:t>
            </a:r>
          </a:p>
        </c:rich>
      </c:tx>
      <c:overlay val="0"/>
      <c:spPr>
        <a:noFill/>
        <a:ln>
          <a:noFill/>
        </a:ln>
        <a:effectLst/>
      </c:spPr>
      <c:txPr>
        <a:bodyPr rot="0" spcFirstLastPara="1" vertOverflow="ellipsis" vert="horz" wrap="square" anchor="ctr" anchorCtr="1"/>
        <a:lstStyle/>
        <a:p>
          <a:pPr>
            <a:defRPr sz="276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'Demographics Analysis'!$J$59</c:f>
              <c:strCache>
                <c:ptCount val="1"/>
                <c:pt idx="0">
                  <c:v>Count</c:v>
                </c:pt>
              </c:strCache>
            </c:strRef>
          </c:tx>
          <c:dPt>
            <c:idx val="0"/>
            <c:bubble3D val="0"/>
            <c:spPr>
              <a:solidFill>
                <a:schemeClr val="accent4">
                  <a:shade val="58000"/>
                </a:schemeClr>
              </a:solidFill>
              <a:ln w="19050">
                <a:solidFill>
                  <a:schemeClr val="lt1"/>
                </a:solidFill>
              </a:ln>
              <a:effectLst/>
            </c:spPr>
            <c:extLst>
              <c:ext xmlns:c16="http://schemas.microsoft.com/office/drawing/2014/chart" uri="{C3380CC4-5D6E-409C-BE32-E72D297353CC}">
                <c16:uniqueId val="{00000001-55E7-E54E-8A0E-2750C5D3B8D7}"/>
              </c:ext>
            </c:extLst>
          </c:dPt>
          <c:dPt>
            <c:idx val="1"/>
            <c:bubble3D val="0"/>
            <c:spPr>
              <a:solidFill>
                <a:schemeClr val="accent4">
                  <a:shade val="86000"/>
                </a:schemeClr>
              </a:solidFill>
              <a:ln w="19050">
                <a:solidFill>
                  <a:schemeClr val="lt1"/>
                </a:solidFill>
              </a:ln>
              <a:effectLst/>
            </c:spPr>
            <c:extLst>
              <c:ext xmlns:c16="http://schemas.microsoft.com/office/drawing/2014/chart" uri="{C3380CC4-5D6E-409C-BE32-E72D297353CC}">
                <c16:uniqueId val="{00000003-55E7-E54E-8A0E-2750C5D3B8D7}"/>
              </c:ext>
            </c:extLst>
          </c:dPt>
          <c:dPt>
            <c:idx val="2"/>
            <c:bubble3D val="0"/>
            <c:spPr>
              <a:solidFill>
                <a:schemeClr val="accent4">
                  <a:tint val="86000"/>
                </a:schemeClr>
              </a:solidFill>
              <a:ln w="19050">
                <a:solidFill>
                  <a:schemeClr val="lt1"/>
                </a:solidFill>
              </a:ln>
              <a:effectLst/>
            </c:spPr>
            <c:extLst>
              <c:ext xmlns:c16="http://schemas.microsoft.com/office/drawing/2014/chart" uri="{C3380CC4-5D6E-409C-BE32-E72D297353CC}">
                <c16:uniqueId val="{00000005-55E7-E54E-8A0E-2750C5D3B8D7}"/>
              </c:ext>
            </c:extLst>
          </c:dPt>
          <c:dPt>
            <c:idx val="3"/>
            <c:bubble3D val="0"/>
            <c:spPr>
              <a:solidFill>
                <a:schemeClr val="accent4">
                  <a:tint val="58000"/>
                </a:schemeClr>
              </a:solidFill>
              <a:ln w="19050">
                <a:solidFill>
                  <a:schemeClr val="lt1"/>
                </a:solidFill>
              </a:ln>
              <a:effectLst/>
            </c:spPr>
            <c:extLst>
              <c:ext xmlns:c16="http://schemas.microsoft.com/office/drawing/2014/chart" uri="{C3380CC4-5D6E-409C-BE32-E72D297353CC}">
                <c16:uniqueId val="{00000007-55E7-E54E-8A0E-2750C5D3B8D7}"/>
              </c:ext>
            </c:extLst>
          </c:dPt>
          <c:dLbls>
            <c:dLbl>
              <c:idx val="0"/>
              <c:numFmt formatCode="0.0%" sourceLinked="0"/>
              <c:spPr>
                <a:noFill/>
                <a:ln>
                  <a:noFill/>
                </a:ln>
                <a:effectLst/>
              </c:spPr>
              <c:txPr>
                <a:bodyPr rot="0" spcFirstLastPara="1" vertOverflow="ellipsis" vert="horz" wrap="square" anchor="ctr" anchorCtr="1"/>
                <a:lstStyle/>
                <a:p>
                  <a:pPr>
                    <a:defRPr sz="3200" b="0" i="0" u="none" strike="noStrike" kern="1200" baseline="0">
                      <a:solidFill>
                        <a:schemeClr val="bg1"/>
                      </a:solidFill>
                      <a:latin typeface="+mn-lt"/>
                      <a:ea typeface="+mn-ea"/>
                      <a:cs typeface="+mn-cs"/>
                    </a:defRPr>
                  </a:pPr>
                  <a:endParaRPr lang="en-US"/>
                </a:p>
              </c:txPr>
              <c:showLegendKey val="0"/>
              <c:showVal val="0"/>
              <c:showCatName val="1"/>
              <c:showSerName val="0"/>
              <c:showPercent val="1"/>
              <c:showBubbleSize val="0"/>
              <c:extLst>
                <c:ext xmlns:c16="http://schemas.microsoft.com/office/drawing/2014/chart" uri="{C3380CC4-5D6E-409C-BE32-E72D297353CC}">
                  <c16:uniqueId val="{00000001-55E7-E54E-8A0E-2750C5D3B8D7}"/>
                </c:ext>
              </c:extLst>
            </c:dLbl>
            <c:dLbl>
              <c:idx val="1"/>
              <c:numFmt formatCode="0.0%" sourceLinked="0"/>
              <c:spPr>
                <a:noFill/>
                <a:ln>
                  <a:noFill/>
                </a:ln>
                <a:effectLst/>
              </c:spPr>
              <c:txPr>
                <a:bodyPr rot="0" spcFirstLastPara="1" vertOverflow="ellipsis" vert="horz" wrap="square" anchor="ctr" anchorCtr="1"/>
                <a:lstStyle/>
                <a:p>
                  <a:pPr>
                    <a:defRPr sz="3200" b="0" i="0" u="none" strike="noStrike" kern="1200" baseline="0">
                      <a:solidFill>
                        <a:schemeClr val="bg1"/>
                      </a:solidFill>
                      <a:latin typeface="+mn-lt"/>
                      <a:ea typeface="+mn-ea"/>
                      <a:cs typeface="+mn-cs"/>
                    </a:defRPr>
                  </a:pPr>
                  <a:endParaRPr lang="en-US"/>
                </a:p>
              </c:txPr>
              <c:showLegendKey val="0"/>
              <c:showVal val="0"/>
              <c:showCatName val="1"/>
              <c:showSerName val="0"/>
              <c:showPercent val="1"/>
              <c:showBubbleSize val="0"/>
              <c:extLst>
                <c:ext xmlns:c16="http://schemas.microsoft.com/office/drawing/2014/chart" uri="{C3380CC4-5D6E-409C-BE32-E72D297353CC}">
                  <c16:uniqueId val="{00000003-55E7-E54E-8A0E-2750C5D3B8D7}"/>
                </c:ext>
              </c:extLst>
            </c:dLbl>
            <c:dLbl>
              <c:idx val="2"/>
              <c:numFmt formatCode="0.0%" sourceLinked="0"/>
              <c:spPr>
                <a:noFill/>
                <a:ln>
                  <a:noFill/>
                </a:ln>
                <a:effectLst/>
              </c:spPr>
              <c:txPr>
                <a:bodyPr rot="0" spcFirstLastPara="1" vertOverflow="ellipsis" vert="horz" wrap="square" anchor="ctr" anchorCtr="1"/>
                <a:lstStyle/>
                <a:p>
                  <a:pPr>
                    <a:defRPr sz="3200" b="0" i="0" u="none" strike="noStrike" kern="1200" baseline="0">
                      <a:solidFill>
                        <a:schemeClr val="bg1"/>
                      </a:solidFill>
                      <a:latin typeface="+mn-lt"/>
                      <a:ea typeface="+mn-ea"/>
                      <a:cs typeface="+mn-cs"/>
                    </a:defRPr>
                  </a:pPr>
                  <a:endParaRPr lang="en-US"/>
                </a:p>
              </c:txPr>
              <c:showLegendKey val="0"/>
              <c:showVal val="0"/>
              <c:showCatName val="1"/>
              <c:showSerName val="0"/>
              <c:showPercent val="1"/>
              <c:showBubbleSize val="0"/>
              <c:extLst>
                <c:ext xmlns:c16="http://schemas.microsoft.com/office/drawing/2014/chart" uri="{C3380CC4-5D6E-409C-BE32-E72D297353CC}">
                  <c16:uniqueId val="{00000005-55E7-E54E-8A0E-2750C5D3B8D7}"/>
                </c:ext>
              </c:extLst>
            </c:dLbl>
            <c:dLbl>
              <c:idx val="3"/>
              <c:numFmt formatCode="0.0%" sourceLinked="0"/>
              <c:spPr>
                <a:noFill/>
                <a:ln>
                  <a:noFill/>
                </a:ln>
                <a:effectLst/>
              </c:spPr>
              <c:txPr>
                <a:bodyPr rot="0" spcFirstLastPara="1" vertOverflow="ellipsis" vert="horz" wrap="square" anchor="ctr" anchorCtr="1"/>
                <a:lstStyle/>
                <a:p>
                  <a:pPr>
                    <a:defRPr sz="3200" b="0" i="0" u="none" strike="noStrike" kern="1200" baseline="0">
                      <a:solidFill>
                        <a:schemeClr val="bg1"/>
                      </a:solidFill>
                      <a:latin typeface="+mn-lt"/>
                      <a:ea typeface="+mn-ea"/>
                      <a:cs typeface="+mn-cs"/>
                    </a:defRPr>
                  </a:pPr>
                  <a:endParaRPr lang="en-US"/>
                </a:p>
              </c:txPr>
              <c:showLegendKey val="0"/>
              <c:showVal val="0"/>
              <c:showCatName val="1"/>
              <c:showSerName val="0"/>
              <c:showPercent val="1"/>
              <c:showBubbleSize val="0"/>
              <c:extLst>
                <c:ext xmlns:c16="http://schemas.microsoft.com/office/drawing/2014/chart" uri="{C3380CC4-5D6E-409C-BE32-E72D297353CC}">
                  <c16:uniqueId val="{00000007-55E7-E54E-8A0E-2750C5D3B8D7}"/>
                </c:ext>
              </c:extLst>
            </c:dLbl>
            <c:spPr>
              <a:noFill/>
              <a:ln>
                <a:noFill/>
              </a:ln>
              <a:effectLst/>
            </c:spPr>
            <c:txPr>
              <a:bodyPr rot="0" spcFirstLastPara="1" vertOverflow="ellipsis" vert="horz" wrap="square" anchor="ctr" anchorCtr="1"/>
              <a:lstStyle/>
              <a:p>
                <a:pPr>
                  <a:defRPr sz="3200" b="0" i="0" u="none" strike="noStrike" kern="1200" baseline="0">
                    <a:solidFill>
                      <a:schemeClr val="bg1"/>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'Demographics Analysis'!$I$60:$I$63</c:f>
              <c:strCache>
                <c:ptCount val="4"/>
                <c:pt idx="0">
                  <c:v>IV</c:v>
                </c:pt>
                <c:pt idx="1">
                  <c:v>III</c:v>
                </c:pt>
                <c:pt idx="2">
                  <c:v>II</c:v>
                </c:pt>
                <c:pt idx="3">
                  <c:v>I</c:v>
                </c:pt>
              </c:strCache>
            </c:strRef>
          </c:cat>
          <c:val>
            <c:numRef>
              <c:f>'Demographics Analysis'!$J$60:$J$63</c:f>
              <c:numCache>
                <c:formatCode>General</c:formatCode>
                <c:ptCount val="4"/>
                <c:pt idx="0">
                  <c:v>123</c:v>
                </c:pt>
                <c:pt idx="1">
                  <c:v>84</c:v>
                </c:pt>
                <c:pt idx="2">
                  <c:v>57</c:v>
                </c:pt>
                <c:pt idx="3">
                  <c:v>36</c:v>
                </c:pt>
              </c:numCache>
            </c:numRef>
          </c:val>
          <c:extLst>
            <c:ext xmlns:c16="http://schemas.microsoft.com/office/drawing/2014/chart" uri="{C3380CC4-5D6E-409C-BE32-E72D297353CC}">
              <c16:uniqueId val="{00000008-55E7-E54E-8A0E-2750C5D3B8D7}"/>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3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8">
  <a:schemeClr val="accent5"/>
</cs:colorStyle>
</file>

<file path=ppt/charts/colors2.xml><?xml version="1.0" encoding="utf-8"?>
<cs:colorStyle xmlns:cs="http://schemas.microsoft.com/office/drawing/2012/chartStyle" xmlns:a="http://schemas.openxmlformats.org/drawingml/2006/main" meth="withinLinearReversed" id="21">
  <a:schemeClr val="accent1"/>
</cs:colorStyle>
</file>

<file path=ppt/charts/colors3.xml><?xml version="1.0" encoding="utf-8"?>
<cs:colorStyle xmlns:cs="http://schemas.microsoft.com/office/drawing/2012/chartStyle" xmlns:a="http://schemas.openxmlformats.org/drawingml/2006/main" meth="withinLinear" id="17">
  <a:schemeClr val="accent4"/>
</cs:colorStyle>
</file>

<file path=ppt/charts/colors4.xml><?xml version="1.0" encoding="utf-8"?>
<cs:colorStyle xmlns:cs="http://schemas.microsoft.com/office/drawing/2012/chartStyle" xmlns:a="http://schemas.openxmlformats.org/drawingml/2006/main" meth="withinLinear" id="17">
  <a:schemeClr val="accent4"/>
</cs:colorStyle>
</file>

<file path=ppt/charts/colors5.xml><?xml version="1.0" encoding="utf-8"?>
<cs:colorStyle xmlns:cs="http://schemas.microsoft.com/office/drawing/2012/chartStyle" xmlns:a="http://schemas.openxmlformats.org/drawingml/2006/main" meth="withinLinear" id="17">
  <a:schemeClr val="accent4"/>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E94FC-AB7E-4DEC-B0B0-806FB67395A2}" type="datetimeFigureOut">
              <a:rPr lang="en-US" smtClean="0"/>
              <a:t>4/27/26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CD099F-C252-4EBB-8516-8859F0E70ABE}" type="slidenum">
              <a:rPr lang="en-US" smtClean="0"/>
              <a:t>‹#›</a:t>
            </a:fld>
            <a:endParaRPr lang="en-US"/>
          </a:p>
        </p:txBody>
      </p:sp>
    </p:spTree>
    <p:extLst>
      <p:ext uri="{BB962C8B-B14F-4D97-AF65-F5344CB8AC3E}">
        <p14:creationId xmlns:p14="http://schemas.microsoft.com/office/powerpoint/2010/main" val="1847442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82BDF-49C5-0338-3F18-DDC57E30F86F}"/>
              </a:ext>
            </a:extLst>
          </p:cNvPr>
          <p:cNvSpPr>
            <a:spLocks noGrp="1"/>
          </p:cNvSpPr>
          <p:nvPr>
            <p:ph type="ctrTitle"/>
          </p:nvPr>
        </p:nvSpPr>
        <p:spPr>
          <a:xfrm>
            <a:off x="5486400" y="5387342"/>
            <a:ext cx="32918400" cy="11460480"/>
          </a:xfrm>
        </p:spPr>
        <p:txBody>
          <a:bodyPr anchor="b"/>
          <a:lstStyle>
            <a:lvl1pPr algn="ctr">
              <a:defRPr sz="21600"/>
            </a:lvl1pPr>
          </a:lstStyle>
          <a:p>
            <a:r>
              <a:rPr lang="en-US"/>
              <a:t>Click to edit Master title style</a:t>
            </a:r>
          </a:p>
        </p:txBody>
      </p:sp>
      <p:sp>
        <p:nvSpPr>
          <p:cNvPr id="3" name="Subtitle 2">
            <a:extLst>
              <a:ext uri="{FF2B5EF4-FFF2-40B4-BE49-F238E27FC236}">
                <a16:creationId xmlns:a16="http://schemas.microsoft.com/office/drawing/2014/main" id="{D7CDD643-1928-1341-10F0-18701517936F}"/>
              </a:ext>
            </a:extLst>
          </p:cNvPr>
          <p:cNvSpPr>
            <a:spLocks noGrp="1"/>
          </p:cNvSpPr>
          <p:nvPr>
            <p:ph type="subTitle" idx="1"/>
          </p:nvPr>
        </p:nvSpPr>
        <p:spPr>
          <a:xfrm>
            <a:off x="5486400" y="17289782"/>
            <a:ext cx="32918400" cy="7947658"/>
          </a:xfrm>
        </p:spPr>
        <p:txBody>
          <a:bodyPr/>
          <a:lstStyle>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a:r>
              <a:rPr lang="en-US"/>
              <a:t>Click to edit Master subtitle style</a:t>
            </a:r>
          </a:p>
        </p:txBody>
      </p:sp>
      <p:sp>
        <p:nvSpPr>
          <p:cNvPr id="4" name="Date Placeholder 3">
            <a:extLst>
              <a:ext uri="{FF2B5EF4-FFF2-40B4-BE49-F238E27FC236}">
                <a16:creationId xmlns:a16="http://schemas.microsoft.com/office/drawing/2014/main" id="{82B15AB6-3759-BB58-D2EE-9297B6F7C881}"/>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4FFF5FE7-40B6-D62A-C47A-27FD0D3E7AFF}"/>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66264D75-4176-BAA7-357B-FFA0D23AEC06}"/>
              </a:ext>
            </a:extLst>
          </p:cNvPr>
          <p:cNvSpPr>
            <a:spLocks noGrp="1"/>
          </p:cNvSpPr>
          <p:nvPr>
            <p:ph type="sldNum" sz="quarter" idx="12"/>
          </p:nvPr>
        </p:nvSpPr>
        <p:spPr/>
        <p:txBody>
          <a:bodyPr/>
          <a:lstStyle/>
          <a:p>
            <a:fld id="{9A9A3C54-8036-451C-B804-B44B8C903A55}" type="slidenum">
              <a:rPr lang="en-US" altLang="en-US" smtClean="0"/>
              <a:pPr/>
              <a:t>‹#›</a:t>
            </a:fld>
            <a:endParaRPr lang="en-US" altLang="en-US"/>
          </a:p>
        </p:txBody>
      </p:sp>
    </p:spTree>
    <p:extLst>
      <p:ext uri="{BB962C8B-B14F-4D97-AF65-F5344CB8AC3E}">
        <p14:creationId xmlns:p14="http://schemas.microsoft.com/office/powerpoint/2010/main" val="2101632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9F62D-126F-BCC7-ADAB-99670C89A7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B73046-7B13-278E-3B74-61257BAC37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988067-5105-FE9E-A284-55C8A91B6BDB}"/>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EB1C91E1-3724-2FF6-A75F-7C4BA3C06704}"/>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29FC72C8-9D1D-EADA-F69B-695F42310C6E}"/>
              </a:ext>
            </a:extLst>
          </p:cNvPr>
          <p:cNvSpPr>
            <a:spLocks noGrp="1"/>
          </p:cNvSpPr>
          <p:nvPr>
            <p:ph type="sldNum" sz="quarter" idx="12"/>
          </p:nvPr>
        </p:nvSpPr>
        <p:spPr/>
        <p:txBody>
          <a:bodyPr/>
          <a:lstStyle/>
          <a:p>
            <a:fld id="{21DCC65B-0F41-4F52-97F4-2F12512C079D}" type="slidenum">
              <a:rPr lang="en-US" altLang="en-US" smtClean="0"/>
              <a:pPr/>
              <a:t>‹#›</a:t>
            </a:fld>
            <a:endParaRPr lang="en-US" altLang="en-US"/>
          </a:p>
        </p:txBody>
      </p:sp>
    </p:spTree>
    <p:extLst>
      <p:ext uri="{BB962C8B-B14F-4D97-AF65-F5344CB8AC3E}">
        <p14:creationId xmlns:p14="http://schemas.microsoft.com/office/powerpoint/2010/main" val="1020664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B947F-E149-EDAE-1CB0-19899B99F8E5}"/>
              </a:ext>
            </a:extLst>
          </p:cNvPr>
          <p:cNvSpPr>
            <a:spLocks noGrp="1"/>
          </p:cNvSpPr>
          <p:nvPr>
            <p:ph type="title"/>
          </p:nvPr>
        </p:nvSpPr>
        <p:spPr>
          <a:xfrm>
            <a:off x="2994660" y="8206745"/>
            <a:ext cx="37856160" cy="13693138"/>
          </a:xfrm>
        </p:spPr>
        <p:txBody>
          <a:bodyPr anchor="b"/>
          <a:lstStyle>
            <a:lvl1pPr>
              <a:defRPr sz="21600"/>
            </a:lvl1pPr>
          </a:lstStyle>
          <a:p>
            <a:r>
              <a:rPr lang="en-US"/>
              <a:t>Click to edit Master title style</a:t>
            </a:r>
          </a:p>
        </p:txBody>
      </p:sp>
      <p:sp>
        <p:nvSpPr>
          <p:cNvPr id="3" name="Text Placeholder 2">
            <a:extLst>
              <a:ext uri="{FF2B5EF4-FFF2-40B4-BE49-F238E27FC236}">
                <a16:creationId xmlns:a16="http://schemas.microsoft.com/office/drawing/2014/main" id="{312C919F-F4F7-86ED-C87B-599C9AB33548}"/>
              </a:ext>
            </a:extLst>
          </p:cNvPr>
          <p:cNvSpPr>
            <a:spLocks noGrp="1"/>
          </p:cNvSpPr>
          <p:nvPr>
            <p:ph type="body" idx="1"/>
          </p:nvPr>
        </p:nvSpPr>
        <p:spPr>
          <a:xfrm>
            <a:off x="2994660" y="22029425"/>
            <a:ext cx="37856160" cy="7200898"/>
          </a:xfrm>
        </p:spPr>
        <p:txBody>
          <a:bodyPr/>
          <a:lstStyle>
            <a:lvl1pPr marL="0" indent="0">
              <a:buNone/>
              <a:defRPr sz="8640">
                <a:solidFill>
                  <a:schemeClr val="tx1">
                    <a:tint val="82000"/>
                  </a:schemeClr>
                </a:solidFill>
              </a:defRPr>
            </a:lvl1pPr>
            <a:lvl2pPr marL="1645920" indent="0">
              <a:buNone/>
              <a:defRPr sz="7200">
                <a:solidFill>
                  <a:schemeClr val="tx1">
                    <a:tint val="82000"/>
                  </a:schemeClr>
                </a:solidFill>
              </a:defRPr>
            </a:lvl2pPr>
            <a:lvl3pPr marL="3291840" indent="0">
              <a:buNone/>
              <a:defRPr sz="6480">
                <a:solidFill>
                  <a:schemeClr val="tx1">
                    <a:tint val="82000"/>
                  </a:schemeClr>
                </a:solidFill>
              </a:defRPr>
            </a:lvl3pPr>
            <a:lvl4pPr marL="4937760" indent="0">
              <a:buNone/>
              <a:defRPr sz="5760">
                <a:solidFill>
                  <a:schemeClr val="tx1">
                    <a:tint val="82000"/>
                  </a:schemeClr>
                </a:solidFill>
              </a:defRPr>
            </a:lvl4pPr>
            <a:lvl5pPr marL="6583680" indent="0">
              <a:buNone/>
              <a:defRPr sz="5760">
                <a:solidFill>
                  <a:schemeClr val="tx1">
                    <a:tint val="82000"/>
                  </a:schemeClr>
                </a:solidFill>
              </a:defRPr>
            </a:lvl5pPr>
            <a:lvl6pPr marL="8229600" indent="0">
              <a:buNone/>
              <a:defRPr sz="5760">
                <a:solidFill>
                  <a:schemeClr val="tx1">
                    <a:tint val="82000"/>
                  </a:schemeClr>
                </a:solidFill>
              </a:defRPr>
            </a:lvl6pPr>
            <a:lvl7pPr marL="9875520" indent="0">
              <a:buNone/>
              <a:defRPr sz="5760">
                <a:solidFill>
                  <a:schemeClr val="tx1">
                    <a:tint val="82000"/>
                  </a:schemeClr>
                </a:solidFill>
              </a:defRPr>
            </a:lvl7pPr>
            <a:lvl8pPr marL="11521440" indent="0">
              <a:buNone/>
              <a:defRPr sz="5760">
                <a:solidFill>
                  <a:schemeClr val="tx1">
                    <a:tint val="82000"/>
                  </a:schemeClr>
                </a:solidFill>
              </a:defRPr>
            </a:lvl8pPr>
            <a:lvl9pPr marL="13167360" indent="0">
              <a:buNone/>
              <a:defRPr sz="576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3EE3DE-120B-C98D-CBB7-C6EF35BF3DBD}"/>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B2C3B0C2-370E-D37F-25BF-3EC52B55287D}"/>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04F270D7-463A-2840-638B-A865621924AB}"/>
              </a:ext>
            </a:extLst>
          </p:cNvPr>
          <p:cNvSpPr>
            <a:spLocks noGrp="1"/>
          </p:cNvSpPr>
          <p:nvPr>
            <p:ph type="sldNum" sz="quarter" idx="12"/>
          </p:nvPr>
        </p:nvSpPr>
        <p:spPr/>
        <p:txBody>
          <a:bodyPr/>
          <a:lstStyle/>
          <a:p>
            <a:fld id="{8C625E5B-513A-4123-B43E-1C3D070B364A}" type="slidenum">
              <a:rPr lang="en-US" altLang="en-US" smtClean="0"/>
              <a:pPr/>
              <a:t>‹#›</a:t>
            </a:fld>
            <a:endParaRPr lang="en-US" altLang="en-US"/>
          </a:p>
        </p:txBody>
      </p:sp>
    </p:spTree>
    <p:extLst>
      <p:ext uri="{BB962C8B-B14F-4D97-AF65-F5344CB8AC3E}">
        <p14:creationId xmlns:p14="http://schemas.microsoft.com/office/powerpoint/2010/main" val="2729995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C8575-8C1F-FAAB-A3BD-0EE26B12C7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B0CD2B-74F7-2F03-E02F-5D60E7B82078}"/>
              </a:ext>
            </a:extLst>
          </p:cNvPr>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E203C2-5C35-AF2B-644A-A67368340D9B}"/>
              </a:ext>
            </a:extLst>
          </p:cNvPr>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B58E31-C633-DA79-25BA-E0A2027F996A}"/>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D093B336-3907-2B9B-DA2A-3E477BD784A1}"/>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5C4C3EE9-AC59-3C6D-CCA3-651F47329481}"/>
              </a:ext>
            </a:extLst>
          </p:cNvPr>
          <p:cNvSpPr>
            <a:spLocks noGrp="1"/>
          </p:cNvSpPr>
          <p:nvPr>
            <p:ph type="sldNum" sz="quarter" idx="12"/>
          </p:nvPr>
        </p:nvSpPr>
        <p:spPr/>
        <p:txBody>
          <a:bodyPr/>
          <a:lstStyle/>
          <a:p>
            <a:fld id="{3CF3B148-214D-47E1-8529-77F16F2962D9}" type="slidenum">
              <a:rPr lang="en-US" altLang="en-US" smtClean="0"/>
              <a:pPr/>
              <a:t>‹#›</a:t>
            </a:fld>
            <a:endParaRPr lang="en-US" altLang="en-US"/>
          </a:p>
        </p:txBody>
      </p:sp>
    </p:spTree>
    <p:extLst>
      <p:ext uri="{BB962C8B-B14F-4D97-AF65-F5344CB8AC3E}">
        <p14:creationId xmlns:p14="http://schemas.microsoft.com/office/powerpoint/2010/main" val="2359848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EC2A8-04EF-991B-C8AC-19CBA2E37440}"/>
              </a:ext>
            </a:extLst>
          </p:cNvPr>
          <p:cNvSpPr>
            <a:spLocks noGrp="1"/>
          </p:cNvSpPr>
          <p:nvPr>
            <p:ph type="title"/>
          </p:nvPr>
        </p:nvSpPr>
        <p:spPr>
          <a:xfrm>
            <a:off x="3023237" y="1752603"/>
            <a:ext cx="37856160" cy="6362702"/>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560E17-45B2-46B9-7F43-0D254268ED61}"/>
              </a:ext>
            </a:extLst>
          </p:cNvPr>
          <p:cNvSpPr>
            <a:spLocks noGrp="1"/>
          </p:cNvSpPr>
          <p:nvPr>
            <p:ph type="body" idx="1"/>
          </p:nvPr>
        </p:nvSpPr>
        <p:spPr>
          <a:xfrm>
            <a:off x="3023239" y="8069582"/>
            <a:ext cx="18568033" cy="3954778"/>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4" name="Content Placeholder 3">
            <a:extLst>
              <a:ext uri="{FF2B5EF4-FFF2-40B4-BE49-F238E27FC236}">
                <a16:creationId xmlns:a16="http://schemas.microsoft.com/office/drawing/2014/main" id="{8D9D2BFF-5623-44B8-42F2-B8304EEC13BE}"/>
              </a:ext>
            </a:extLst>
          </p:cNvPr>
          <p:cNvSpPr>
            <a:spLocks noGrp="1"/>
          </p:cNvSpPr>
          <p:nvPr>
            <p:ph sz="half" idx="2"/>
          </p:nvPr>
        </p:nvSpPr>
        <p:spPr>
          <a:xfrm>
            <a:off x="3023239" y="12024360"/>
            <a:ext cx="18568033"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5EF777B-FF3A-A733-9BC2-042B43FB527D}"/>
              </a:ext>
            </a:extLst>
          </p:cNvPr>
          <p:cNvSpPr>
            <a:spLocks noGrp="1"/>
          </p:cNvSpPr>
          <p:nvPr>
            <p:ph type="body" sz="quarter" idx="3"/>
          </p:nvPr>
        </p:nvSpPr>
        <p:spPr>
          <a:xfrm>
            <a:off x="22219920" y="8069582"/>
            <a:ext cx="18659477" cy="3954778"/>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6" name="Content Placeholder 5">
            <a:extLst>
              <a:ext uri="{FF2B5EF4-FFF2-40B4-BE49-F238E27FC236}">
                <a16:creationId xmlns:a16="http://schemas.microsoft.com/office/drawing/2014/main" id="{433100A2-FF2F-8E39-3400-E3A148406EE6}"/>
              </a:ext>
            </a:extLst>
          </p:cNvPr>
          <p:cNvSpPr>
            <a:spLocks noGrp="1"/>
          </p:cNvSpPr>
          <p:nvPr>
            <p:ph sz="quarter" idx="4"/>
          </p:nvPr>
        </p:nvSpPr>
        <p:spPr>
          <a:xfrm>
            <a:off x="22219920"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A276883-B585-9E3A-25A1-0B7538655C18}"/>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6CE3AEF2-75A2-8A37-132A-546B70EA15F3}"/>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C5736388-C1BB-3F0D-2E2F-19D1D7D83A8C}"/>
              </a:ext>
            </a:extLst>
          </p:cNvPr>
          <p:cNvSpPr>
            <a:spLocks noGrp="1"/>
          </p:cNvSpPr>
          <p:nvPr>
            <p:ph type="sldNum" sz="quarter" idx="12"/>
          </p:nvPr>
        </p:nvSpPr>
        <p:spPr/>
        <p:txBody>
          <a:bodyPr/>
          <a:lstStyle/>
          <a:p>
            <a:fld id="{A97F1030-045C-482A-9300-0092C259452C}" type="slidenum">
              <a:rPr lang="en-US" altLang="en-US" smtClean="0"/>
              <a:pPr/>
              <a:t>‹#›</a:t>
            </a:fld>
            <a:endParaRPr lang="en-US" altLang="en-US"/>
          </a:p>
        </p:txBody>
      </p:sp>
    </p:spTree>
    <p:extLst>
      <p:ext uri="{BB962C8B-B14F-4D97-AF65-F5344CB8AC3E}">
        <p14:creationId xmlns:p14="http://schemas.microsoft.com/office/powerpoint/2010/main" val="2705537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A6DB4-77D9-DB81-F317-E6D60A2BA69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44039B2-21E7-F067-4374-932F2169B883}"/>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04691C2C-E6BE-62CA-893F-8A4A9D7A1252}"/>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05C03290-FAEC-2106-CF35-3CEC5BED87B0}"/>
              </a:ext>
            </a:extLst>
          </p:cNvPr>
          <p:cNvSpPr>
            <a:spLocks noGrp="1"/>
          </p:cNvSpPr>
          <p:nvPr>
            <p:ph type="sldNum" sz="quarter" idx="12"/>
          </p:nvPr>
        </p:nvSpPr>
        <p:spPr/>
        <p:txBody>
          <a:bodyPr/>
          <a:lstStyle/>
          <a:p>
            <a:fld id="{7A3497F4-3DDF-4E8B-B991-C33E187ECFE0}" type="slidenum">
              <a:rPr lang="en-US" altLang="en-US" smtClean="0"/>
              <a:pPr/>
              <a:t>‹#›</a:t>
            </a:fld>
            <a:endParaRPr lang="en-US" altLang="en-US"/>
          </a:p>
        </p:txBody>
      </p:sp>
    </p:spTree>
    <p:extLst>
      <p:ext uri="{BB962C8B-B14F-4D97-AF65-F5344CB8AC3E}">
        <p14:creationId xmlns:p14="http://schemas.microsoft.com/office/powerpoint/2010/main" val="2962926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14DAC4-F5D1-9EFF-C0B7-6CF7ECE3A0F8}"/>
              </a:ext>
            </a:extLst>
          </p:cNvPr>
          <p:cNvSpPr>
            <a:spLocks noGrp="1"/>
          </p:cNvSpPr>
          <p:nvPr>
            <p:ph type="dt" sz="half" idx="10"/>
          </p:nvPr>
        </p:nvSpPr>
        <p:spPr/>
        <p:txBody>
          <a:bodyPr/>
          <a:lstStyle/>
          <a:p>
            <a:pPr>
              <a:defRPr/>
            </a:pPr>
            <a:endParaRPr lang="en-US"/>
          </a:p>
        </p:txBody>
      </p:sp>
      <p:sp>
        <p:nvSpPr>
          <p:cNvPr id="3" name="Footer Placeholder 2">
            <a:extLst>
              <a:ext uri="{FF2B5EF4-FFF2-40B4-BE49-F238E27FC236}">
                <a16:creationId xmlns:a16="http://schemas.microsoft.com/office/drawing/2014/main" id="{601EE4EB-4B99-ABF8-3AC6-9BF9E68DB599}"/>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F5EC217D-7C61-9393-504C-33B12A66F95F}"/>
              </a:ext>
            </a:extLst>
          </p:cNvPr>
          <p:cNvSpPr>
            <a:spLocks noGrp="1"/>
          </p:cNvSpPr>
          <p:nvPr>
            <p:ph type="sldNum" sz="quarter" idx="12"/>
          </p:nvPr>
        </p:nvSpPr>
        <p:spPr/>
        <p:txBody>
          <a:bodyPr/>
          <a:lstStyle/>
          <a:p>
            <a:fld id="{5BCDA108-492B-4DB7-B9AA-BD0A0034DC1D}" type="slidenum">
              <a:rPr lang="en-US" altLang="en-US" smtClean="0"/>
              <a:pPr/>
              <a:t>‹#›</a:t>
            </a:fld>
            <a:endParaRPr lang="en-US" altLang="en-US"/>
          </a:p>
        </p:txBody>
      </p:sp>
    </p:spTree>
    <p:extLst>
      <p:ext uri="{BB962C8B-B14F-4D97-AF65-F5344CB8AC3E}">
        <p14:creationId xmlns:p14="http://schemas.microsoft.com/office/powerpoint/2010/main" val="1439039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F3E48-DC7B-39EA-F8DE-00423CE695C3}"/>
              </a:ext>
            </a:extLst>
          </p:cNvPr>
          <p:cNvSpPr>
            <a:spLocks noGrp="1"/>
          </p:cNvSpPr>
          <p:nvPr>
            <p:ph type="title"/>
          </p:nvPr>
        </p:nvSpPr>
        <p:spPr>
          <a:xfrm>
            <a:off x="3023239" y="2194560"/>
            <a:ext cx="14156053" cy="7680960"/>
          </a:xfrm>
        </p:spPr>
        <p:txBody>
          <a:bodyPr anchor="b"/>
          <a:lstStyle>
            <a:lvl1pPr>
              <a:defRPr sz="11520"/>
            </a:lvl1pPr>
          </a:lstStyle>
          <a:p>
            <a:r>
              <a:rPr lang="en-US"/>
              <a:t>Click to edit Master title style</a:t>
            </a:r>
          </a:p>
        </p:txBody>
      </p:sp>
      <p:sp>
        <p:nvSpPr>
          <p:cNvPr id="3" name="Content Placeholder 2">
            <a:extLst>
              <a:ext uri="{FF2B5EF4-FFF2-40B4-BE49-F238E27FC236}">
                <a16:creationId xmlns:a16="http://schemas.microsoft.com/office/drawing/2014/main" id="{08F335B4-A55B-C81B-064A-BB7828AA0A6A}"/>
              </a:ext>
            </a:extLst>
          </p:cNvPr>
          <p:cNvSpPr>
            <a:spLocks noGrp="1"/>
          </p:cNvSpPr>
          <p:nvPr>
            <p:ph idx="1"/>
          </p:nvPr>
        </p:nvSpPr>
        <p:spPr>
          <a:xfrm>
            <a:off x="18659477" y="4739642"/>
            <a:ext cx="22219920" cy="23393400"/>
          </a:xfrm>
        </p:spPr>
        <p:txBody>
          <a:bodyPr/>
          <a:lstStyle>
            <a:lvl1pPr>
              <a:defRPr sz="11520"/>
            </a:lvl1pPr>
            <a:lvl2pPr>
              <a:defRPr sz="10080"/>
            </a:lvl2pPr>
            <a:lvl3pPr>
              <a:defRPr sz="8640"/>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E8B5145-FCDC-2027-6412-5CC0DF4125B4}"/>
              </a:ext>
            </a:extLst>
          </p:cNvPr>
          <p:cNvSpPr>
            <a:spLocks noGrp="1"/>
          </p:cNvSpPr>
          <p:nvPr>
            <p:ph type="body" sz="half" idx="2"/>
          </p:nvPr>
        </p:nvSpPr>
        <p:spPr>
          <a:xfrm>
            <a:off x="3023239" y="9875520"/>
            <a:ext cx="14156053" cy="18295622"/>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a:extLst>
              <a:ext uri="{FF2B5EF4-FFF2-40B4-BE49-F238E27FC236}">
                <a16:creationId xmlns:a16="http://schemas.microsoft.com/office/drawing/2014/main" id="{2CC499D3-30FA-BDAF-E378-A18A9618E02F}"/>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FB7C41E8-C6A6-35CF-8E78-41C30D704AB5}"/>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EF1C081A-E961-D768-7D0D-6E13B9102DC7}"/>
              </a:ext>
            </a:extLst>
          </p:cNvPr>
          <p:cNvSpPr>
            <a:spLocks noGrp="1"/>
          </p:cNvSpPr>
          <p:nvPr>
            <p:ph type="sldNum" sz="quarter" idx="12"/>
          </p:nvPr>
        </p:nvSpPr>
        <p:spPr/>
        <p:txBody>
          <a:bodyPr/>
          <a:lstStyle/>
          <a:p>
            <a:fld id="{C47EB2FE-322C-457A-9B4F-B9A411346508}" type="slidenum">
              <a:rPr lang="en-US" altLang="en-US" smtClean="0"/>
              <a:pPr/>
              <a:t>‹#›</a:t>
            </a:fld>
            <a:endParaRPr lang="en-US" altLang="en-US"/>
          </a:p>
        </p:txBody>
      </p:sp>
    </p:spTree>
    <p:extLst>
      <p:ext uri="{BB962C8B-B14F-4D97-AF65-F5344CB8AC3E}">
        <p14:creationId xmlns:p14="http://schemas.microsoft.com/office/powerpoint/2010/main" val="39551186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62938-5E6F-8DC9-3DBE-72DBC9E6DB09}"/>
              </a:ext>
            </a:extLst>
          </p:cNvPr>
          <p:cNvSpPr>
            <a:spLocks noGrp="1"/>
          </p:cNvSpPr>
          <p:nvPr>
            <p:ph type="title"/>
          </p:nvPr>
        </p:nvSpPr>
        <p:spPr>
          <a:xfrm>
            <a:off x="3023239" y="2194560"/>
            <a:ext cx="14156053" cy="7680960"/>
          </a:xfrm>
        </p:spPr>
        <p:txBody>
          <a:bodyPr anchor="b"/>
          <a:lstStyle>
            <a:lvl1pPr>
              <a:defRPr sz="11520"/>
            </a:lvl1pPr>
          </a:lstStyle>
          <a:p>
            <a:r>
              <a:rPr lang="en-US"/>
              <a:t>Click to edit Master title style</a:t>
            </a:r>
          </a:p>
        </p:txBody>
      </p:sp>
      <p:sp>
        <p:nvSpPr>
          <p:cNvPr id="3" name="Picture Placeholder 2">
            <a:extLst>
              <a:ext uri="{FF2B5EF4-FFF2-40B4-BE49-F238E27FC236}">
                <a16:creationId xmlns:a16="http://schemas.microsoft.com/office/drawing/2014/main" id="{89DBD56A-AD12-C017-1D54-48F35B6E6049}"/>
              </a:ext>
            </a:extLst>
          </p:cNvPr>
          <p:cNvSpPr>
            <a:spLocks noGrp="1"/>
          </p:cNvSpPr>
          <p:nvPr>
            <p:ph type="pic" idx="1"/>
          </p:nvPr>
        </p:nvSpPr>
        <p:spPr>
          <a:xfrm>
            <a:off x="18659477" y="4739642"/>
            <a:ext cx="22219920" cy="23393400"/>
          </a:xfrm>
        </p:spPr>
        <p:txBody>
          <a:bodyPr/>
          <a:lstStyle>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a:endParaRPr lang="en-US"/>
          </a:p>
        </p:txBody>
      </p:sp>
      <p:sp>
        <p:nvSpPr>
          <p:cNvPr id="4" name="Text Placeholder 3">
            <a:extLst>
              <a:ext uri="{FF2B5EF4-FFF2-40B4-BE49-F238E27FC236}">
                <a16:creationId xmlns:a16="http://schemas.microsoft.com/office/drawing/2014/main" id="{BF96ED04-41C7-C4DC-97C1-0CCC5624064D}"/>
              </a:ext>
            </a:extLst>
          </p:cNvPr>
          <p:cNvSpPr>
            <a:spLocks noGrp="1"/>
          </p:cNvSpPr>
          <p:nvPr>
            <p:ph type="body" sz="half" idx="2"/>
          </p:nvPr>
        </p:nvSpPr>
        <p:spPr>
          <a:xfrm>
            <a:off x="3023239" y="9875520"/>
            <a:ext cx="14156053" cy="18295622"/>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a:extLst>
              <a:ext uri="{FF2B5EF4-FFF2-40B4-BE49-F238E27FC236}">
                <a16:creationId xmlns:a16="http://schemas.microsoft.com/office/drawing/2014/main" id="{985145F8-7EA4-EAFF-FC7C-8E1D4733D7D3}"/>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29692EAD-8C89-52F4-E664-7D7995877ACF}"/>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B767C2BD-2676-A4FF-33EF-CF20713B4C04}"/>
              </a:ext>
            </a:extLst>
          </p:cNvPr>
          <p:cNvSpPr>
            <a:spLocks noGrp="1"/>
          </p:cNvSpPr>
          <p:nvPr>
            <p:ph type="sldNum" sz="quarter" idx="12"/>
          </p:nvPr>
        </p:nvSpPr>
        <p:spPr/>
        <p:txBody>
          <a:bodyPr/>
          <a:lstStyle/>
          <a:p>
            <a:fld id="{B9C9EE8C-48F8-471F-845D-7FA6973ED218}" type="slidenum">
              <a:rPr lang="en-US" altLang="en-US" smtClean="0"/>
              <a:pPr/>
              <a:t>‹#›</a:t>
            </a:fld>
            <a:endParaRPr lang="en-US" altLang="en-US"/>
          </a:p>
        </p:txBody>
      </p:sp>
    </p:spTree>
    <p:extLst>
      <p:ext uri="{BB962C8B-B14F-4D97-AF65-F5344CB8AC3E}">
        <p14:creationId xmlns:p14="http://schemas.microsoft.com/office/powerpoint/2010/main" val="30001866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26181-A4E5-CA05-35AD-78EA02BE207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28C0B62-4473-DB1B-86EC-4A3BE68130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0D7A6D-5A2F-53CE-3498-1EFFEB05ADAE}"/>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94874EB3-80E8-69AF-66E7-9DF7E333AC82}"/>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26D214C7-7DD5-B9CF-FA22-BB79567D7C1D}"/>
              </a:ext>
            </a:extLst>
          </p:cNvPr>
          <p:cNvSpPr>
            <a:spLocks noGrp="1"/>
          </p:cNvSpPr>
          <p:nvPr>
            <p:ph type="sldNum" sz="quarter" idx="12"/>
          </p:nvPr>
        </p:nvSpPr>
        <p:spPr/>
        <p:txBody>
          <a:bodyPr/>
          <a:lstStyle/>
          <a:p>
            <a:fld id="{6735F444-A471-4CA1-8A3C-400D926D5B01}" type="slidenum">
              <a:rPr lang="en-US" altLang="en-US" smtClean="0"/>
              <a:pPr/>
              <a:t>‹#›</a:t>
            </a:fld>
            <a:endParaRPr lang="en-US" altLang="en-US"/>
          </a:p>
        </p:txBody>
      </p:sp>
    </p:spTree>
    <p:extLst>
      <p:ext uri="{BB962C8B-B14F-4D97-AF65-F5344CB8AC3E}">
        <p14:creationId xmlns:p14="http://schemas.microsoft.com/office/powerpoint/2010/main" val="7666456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CC2D35-904E-89B7-6BAE-A216FC4350F5}"/>
              </a:ext>
            </a:extLst>
          </p:cNvPr>
          <p:cNvSpPr>
            <a:spLocks noGrp="1"/>
          </p:cNvSpPr>
          <p:nvPr>
            <p:ph type="title" orient="vert"/>
          </p:nvPr>
        </p:nvSpPr>
        <p:spPr>
          <a:xfrm>
            <a:off x="31409640" y="1752600"/>
            <a:ext cx="9464040" cy="27896822"/>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FCEF0A-D588-B791-26A2-6F79B88428D7}"/>
              </a:ext>
            </a:extLst>
          </p:cNvPr>
          <p:cNvSpPr>
            <a:spLocks noGrp="1"/>
          </p:cNvSpPr>
          <p:nvPr>
            <p:ph type="body" orient="vert" idx="1"/>
          </p:nvPr>
        </p:nvSpPr>
        <p:spPr>
          <a:xfrm>
            <a:off x="3017520"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33F1B0-8B33-3FF4-005E-78A85F7F9C79}"/>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E9A56747-FD31-982C-1026-5D3209343E1D}"/>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86095B87-92B0-3362-5F67-5F6CF21219E7}"/>
              </a:ext>
            </a:extLst>
          </p:cNvPr>
          <p:cNvSpPr>
            <a:spLocks noGrp="1"/>
          </p:cNvSpPr>
          <p:nvPr>
            <p:ph type="sldNum" sz="quarter" idx="12"/>
          </p:nvPr>
        </p:nvSpPr>
        <p:spPr/>
        <p:txBody>
          <a:bodyPr/>
          <a:lstStyle/>
          <a:p>
            <a:fld id="{D5DBAE1B-F49A-4267-A4BD-33AB3ADEC115}" type="slidenum">
              <a:rPr lang="en-US" altLang="en-US" smtClean="0"/>
              <a:pPr/>
              <a:t>‹#›</a:t>
            </a:fld>
            <a:endParaRPr lang="en-US" altLang="en-US"/>
          </a:p>
        </p:txBody>
      </p:sp>
    </p:spTree>
    <p:extLst>
      <p:ext uri="{BB962C8B-B14F-4D97-AF65-F5344CB8AC3E}">
        <p14:creationId xmlns:p14="http://schemas.microsoft.com/office/powerpoint/2010/main" val="3675267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B7EBC4-C6CE-C177-0ED1-91B7C9CFD0F2}"/>
              </a:ext>
            </a:extLst>
          </p:cNvPr>
          <p:cNvSpPr>
            <a:spLocks noGrp="1"/>
          </p:cNvSpPr>
          <p:nvPr>
            <p:ph type="title"/>
          </p:nvPr>
        </p:nvSpPr>
        <p:spPr>
          <a:xfrm>
            <a:off x="3017520" y="1752603"/>
            <a:ext cx="37856160" cy="6362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134009-716C-95EC-4886-86E2BFA1A771}"/>
              </a:ext>
            </a:extLst>
          </p:cNvPr>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BE2ED5-7B97-8874-58CF-B9B369EB7FE1}"/>
              </a:ext>
            </a:extLst>
          </p:cNvPr>
          <p:cNvSpPr>
            <a:spLocks noGrp="1"/>
          </p:cNvSpPr>
          <p:nvPr>
            <p:ph type="dt" sz="half" idx="2"/>
          </p:nvPr>
        </p:nvSpPr>
        <p:spPr>
          <a:xfrm>
            <a:off x="3017520" y="30510482"/>
            <a:ext cx="9875520" cy="1752600"/>
          </a:xfrm>
          <a:prstGeom prst="rect">
            <a:avLst/>
          </a:prstGeom>
        </p:spPr>
        <p:txBody>
          <a:bodyPr vert="horz" lIns="91440" tIns="45720" rIns="91440" bIns="45720" rtlCol="0" anchor="ctr"/>
          <a:lstStyle>
            <a:lvl1pPr algn="l">
              <a:defRPr sz="4320">
                <a:solidFill>
                  <a:schemeClr val="tx1">
                    <a:tint val="82000"/>
                  </a:schemeClr>
                </a:solidFill>
              </a:defRPr>
            </a:lvl1pPr>
          </a:lstStyle>
          <a:p>
            <a:pPr>
              <a:defRPr/>
            </a:pPr>
            <a:endParaRPr lang="en-US"/>
          </a:p>
        </p:txBody>
      </p:sp>
      <p:sp>
        <p:nvSpPr>
          <p:cNvPr id="5" name="Footer Placeholder 4">
            <a:extLst>
              <a:ext uri="{FF2B5EF4-FFF2-40B4-BE49-F238E27FC236}">
                <a16:creationId xmlns:a16="http://schemas.microsoft.com/office/drawing/2014/main" id="{86EB6E6C-5C0D-7FB3-BC3A-D7446559933E}"/>
              </a:ext>
            </a:extLst>
          </p:cNvPr>
          <p:cNvSpPr>
            <a:spLocks noGrp="1"/>
          </p:cNvSpPr>
          <p:nvPr>
            <p:ph type="ftr" sz="quarter" idx="3"/>
          </p:nvPr>
        </p:nvSpPr>
        <p:spPr>
          <a:xfrm>
            <a:off x="14538960" y="30510482"/>
            <a:ext cx="14813280" cy="1752600"/>
          </a:xfrm>
          <a:prstGeom prst="rect">
            <a:avLst/>
          </a:prstGeom>
        </p:spPr>
        <p:txBody>
          <a:bodyPr vert="horz" lIns="91440" tIns="45720" rIns="91440" bIns="45720" rtlCol="0" anchor="ctr"/>
          <a:lstStyle>
            <a:lvl1pPr algn="ctr">
              <a:defRPr sz="4320">
                <a:solidFill>
                  <a:schemeClr val="tx1">
                    <a:tint val="82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DD57D49E-5EAF-4415-5CDD-0F5DED9C71A8}"/>
              </a:ext>
            </a:extLst>
          </p:cNvPr>
          <p:cNvSpPr>
            <a:spLocks noGrp="1"/>
          </p:cNvSpPr>
          <p:nvPr>
            <p:ph type="sldNum" sz="quarter" idx="4"/>
          </p:nvPr>
        </p:nvSpPr>
        <p:spPr>
          <a:xfrm>
            <a:off x="30998160" y="30510482"/>
            <a:ext cx="9875520" cy="1752600"/>
          </a:xfrm>
          <a:prstGeom prst="rect">
            <a:avLst/>
          </a:prstGeom>
        </p:spPr>
        <p:txBody>
          <a:bodyPr vert="horz" lIns="91440" tIns="45720" rIns="91440" bIns="45720" rtlCol="0" anchor="ctr"/>
          <a:lstStyle>
            <a:lvl1pPr algn="r">
              <a:defRPr sz="4320">
                <a:solidFill>
                  <a:schemeClr val="tx1">
                    <a:tint val="82000"/>
                  </a:schemeClr>
                </a:solidFill>
              </a:defRPr>
            </a:lvl1pPr>
          </a:lstStyle>
          <a:p>
            <a:fld id="{29126FD7-87DA-40F1-A4EC-5A1E1345B10A}" type="slidenum">
              <a:rPr lang="en-US" altLang="en-US" smtClean="0"/>
              <a:pPr/>
              <a:t>‹#›</a:t>
            </a:fld>
            <a:endParaRPr lang="en-US" altLang="en-US"/>
          </a:p>
        </p:txBody>
      </p:sp>
    </p:spTree>
    <p:extLst>
      <p:ext uri="{BB962C8B-B14F-4D97-AF65-F5344CB8AC3E}">
        <p14:creationId xmlns:p14="http://schemas.microsoft.com/office/powerpoint/2010/main" val="42245241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3291840" rtl="0" eaLnBrk="1" latinLnBrk="0" hangingPunct="1">
        <a:lnSpc>
          <a:spcPct val="90000"/>
        </a:lnSpc>
        <a:spcBef>
          <a:spcPct val="0"/>
        </a:spcBef>
        <a:buNone/>
        <a:defRPr sz="15840" kern="1200">
          <a:solidFill>
            <a:schemeClr val="tx1"/>
          </a:solidFill>
          <a:latin typeface="+mj-lt"/>
          <a:ea typeface="+mj-ea"/>
          <a:cs typeface="+mj-cs"/>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chart" Target="../charts/chart5.xml"/><Relationship Id="rId2" Type="http://schemas.openxmlformats.org/officeDocument/2006/relationships/chart" Target="../charts/chart1.xml"/><Relationship Id="rId1" Type="http://schemas.openxmlformats.org/officeDocument/2006/relationships/slideLayout" Target="../slideLayouts/slideLayout2.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C904AA32-9896-CCAF-FEC4-D3C30A23629C}"/>
              </a:ext>
            </a:extLst>
          </p:cNvPr>
          <p:cNvSpPr>
            <a:spLocks noChangeArrowheads="1"/>
          </p:cNvSpPr>
          <p:nvPr/>
        </p:nvSpPr>
        <p:spPr bwMode="auto">
          <a:xfrm>
            <a:off x="428625" y="49262"/>
            <a:ext cx="35050095" cy="480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243" tIns="45614" rIns="91243" bIns="45614">
            <a:spAutoFit/>
          </a:bodyPr>
          <a:lstStyle>
            <a:lvl1pPr>
              <a:defRPr sz="2900">
                <a:solidFill>
                  <a:schemeClr val="tx1"/>
                </a:solidFill>
                <a:latin typeface="Arial Narrow" charset="0"/>
                <a:ea typeface="ＭＳ Ｐゴシック" charset="-128"/>
              </a:defRPr>
            </a:lvl1pPr>
            <a:lvl2pPr marL="37931725" indent="-37474525">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pPr algn="just" defTabSz="3686861" eaLnBrk="1" fontAlgn="auto" hangingPunct="1">
              <a:spcBef>
                <a:spcPts val="0"/>
              </a:spcBef>
              <a:spcAft>
                <a:spcPts val="0"/>
              </a:spcAft>
              <a:defRPr/>
            </a:pPr>
            <a:r>
              <a:rPr lang="en-US" altLang="en-US" sz="7000" dirty="0">
                <a:solidFill>
                  <a:srgbClr val="FFFFFF"/>
                </a:solidFill>
                <a:latin typeface="Arial" panose="020B0604020202020204" pitchFamily="34" charset="0"/>
                <a:cs typeface="Arial" panose="020B0604020202020204" pitchFamily="34" charset="0"/>
              </a:rPr>
              <a:t>Small-Cell Versus </a:t>
            </a:r>
            <a:r>
              <a:rPr lang="en-US" sz="7000" dirty="0">
                <a:solidFill>
                  <a:srgbClr val="FFFFFF"/>
                </a:solidFill>
                <a:latin typeface="Arial" panose="020B0604020202020204" pitchFamily="34" charset="0"/>
                <a:cs typeface="Arial" panose="020B0604020202020204" pitchFamily="34" charset="0"/>
              </a:rPr>
              <a:t>Non–Small-Cell Lung Cancer Among African American Patients Comparable to Those at Grady Health System: Subtype Distributions and Associations with Smoking and Socioeconomic Status</a:t>
            </a:r>
          </a:p>
          <a:p>
            <a:pPr algn="just" defTabSz="3686861" eaLnBrk="1" fontAlgn="auto" hangingPunct="1">
              <a:spcBef>
                <a:spcPts val="0"/>
              </a:spcBef>
              <a:spcAft>
                <a:spcPts val="0"/>
              </a:spcAft>
              <a:defRPr/>
            </a:pPr>
            <a:endParaRPr lang="en-US" altLang="en-US" sz="4800" dirty="0">
              <a:solidFill>
                <a:srgbClr val="FFFFFF"/>
              </a:solidFill>
              <a:latin typeface="Arial" panose="020B0604020202020204" pitchFamily="34" charset="0"/>
              <a:cs typeface="Arial" panose="020B0604020202020204" pitchFamily="34" charset="0"/>
            </a:endParaRPr>
          </a:p>
          <a:p>
            <a:pPr defTabSz="3686861" eaLnBrk="1" fontAlgn="auto" hangingPunct="1">
              <a:spcBef>
                <a:spcPts val="0"/>
              </a:spcBef>
              <a:spcAft>
                <a:spcPts val="0"/>
              </a:spcAft>
              <a:defRPr/>
            </a:pPr>
            <a:r>
              <a:rPr lang="en-US" sz="4800" dirty="0">
                <a:solidFill>
                  <a:srgbClr val="FFFFFF"/>
                </a:solidFill>
                <a:latin typeface="Arial" panose="020B0604020202020204" pitchFamily="34" charset="0"/>
                <a:cs typeface="Arial" panose="020B0604020202020204" pitchFamily="34" charset="0"/>
              </a:rPr>
              <a:t>Smith, Zoli, BA; Isac, John, MD MS</a:t>
            </a:r>
            <a:endParaRPr lang="en-US" altLang="en-US" sz="4800" dirty="0">
              <a:solidFill>
                <a:srgbClr val="FFFFFF"/>
              </a:solidFill>
              <a:latin typeface="Arial" panose="020B0604020202020204" pitchFamily="34" charset="0"/>
              <a:cs typeface="Arial" panose="020B0604020202020204" pitchFamily="34" charset="0"/>
            </a:endParaRPr>
          </a:p>
        </p:txBody>
      </p:sp>
      <p:sp>
        <p:nvSpPr>
          <p:cNvPr id="5" name="TextBox 1">
            <a:extLst>
              <a:ext uri="{FF2B5EF4-FFF2-40B4-BE49-F238E27FC236}">
                <a16:creationId xmlns:a16="http://schemas.microsoft.com/office/drawing/2014/main" id="{10F60DED-596D-DEBB-86CA-5C3DF8FFDBB2}"/>
              </a:ext>
            </a:extLst>
          </p:cNvPr>
          <p:cNvSpPr txBox="1">
            <a:spLocks noChangeArrowheads="1"/>
          </p:cNvSpPr>
          <p:nvPr/>
        </p:nvSpPr>
        <p:spPr bwMode="auto">
          <a:xfrm>
            <a:off x="914400" y="5984875"/>
            <a:ext cx="9829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7200">
                <a:solidFill>
                  <a:schemeClr val="tx1"/>
                </a:solidFill>
                <a:latin typeface="Arial" panose="020B0604020202020204" pitchFamily="34" charset="0"/>
              </a:defRPr>
            </a:lvl1pPr>
            <a:lvl2pPr marL="742950" indent="-285750">
              <a:defRPr sz="7200">
                <a:solidFill>
                  <a:schemeClr val="tx1"/>
                </a:solidFill>
                <a:latin typeface="Arial" panose="020B0604020202020204" pitchFamily="34" charset="0"/>
              </a:defRPr>
            </a:lvl2pPr>
            <a:lvl3pPr marL="1143000" indent="-228600">
              <a:defRPr sz="7200">
                <a:solidFill>
                  <a:schemeClr val="tx1"/>
                </a:solidFill>
                <a:latin typeface="Arial" panose="020B0604020202020204" pitchFamily="34" charset="0"/>
              </a:defRPr>
            </a:lvl3pPr>
            <a:lvl4pPr marL="1600200" indent="-228600">
              <a:defRPr sz="7200">
                <a:solidFill>
                  <a:schemeClr val="tx1"/>
                </a:solidFill>
                <a:latin typeface="Arial" panose="020B0604020202020204" pitchFamily="34" charset="0"/>
              </a:defRPr>
            </a:lvl4pPr>
            <a:lvl5pPr marL="2057400" indent="-228600">
              <a:defRPr sz="7200">
                <a:solidFill>
                  <a:schemeClr val="tx1"/>
                </a:solidFill>
                <a:latin typeface="Arial" panose="020B0604020202020204" pitchFamily="34" charset="0"/>
              </a:defRPr>
            </a:lvl5pPr>
            <a:lvl6pPr marL="2514600" indent="-228600" defTabSz="3686175" eaLnBrk="0" fontAlgn="base" hangingPunct="0">
              <a:spcBef>
                <a:spcPct val="0"/>
              </a:spcBef>
              <a:spcAft>
                <a:spcPct val="0"/>
              </a:spcAft>
              <a:defRPr sz="7200">
                <a:solidFill>
                  <a:schemeClr val="tx1"/>
                </a:solidFill>
                <a:latin typeface="Arial" panose="020B0604020202020204" pitchFamily="34" charset="0"/>
              </a:defRPr>
            </a:lvl6pPr>
            <a:lvl7pPr marL="2971800" indent="-228600" defTabSz="3686175" eaLnBrk="0" fontAlgn="base" hangingPunct="0">
              <a:spcBef>
                <a:spcPct val="0"/>
              </a:spcBef>
              <a:spcAft>
                <a:spcPct val="0"/>
              </a:spcAft>
              <a:defRPr sz="7200">
                <a:solidFill>
                  <a:schemeClr val="tx1"/>
                </a:solidFill>
                <a:latin typeface="Arial" panose="020B0604020202020204" pitchFamily="34" charset="0"/>
              </a:defRPr>
            </a:lvl7pPr>
            <a:lvl8pPr marL="3429000" indent="-228600" defTabSz="3686175" eaLnBrk="0" fontAlgn="base" hangingPunct="0">
              <a:spcBef>
                <a:spcPct val="0"/>
              </a:spcBef>
              <a:spcAft>
                <a:spcPct val="0"/>
              </a:spcAft>
              <a:defRPr sz="7200">
                <a:solidFill>
                  <a:schemeClr val="tx1"/>
                </a:solidFill>
                <a:latin typeface="Arial" panose="020B0604020202020204" pitchFamily="34" charset="0"/>
              </a:defRPr>
            </a:lvl8pPr>
            <a:lvl9pPr marL="3886200" indent="-228600" defTabSz="3686175" eaLnBrk="0" fontAlgn="base" hangingPunct="0">
              <a:spcBef>
                <a:spcPct val="0"/>
              </a:spcBef>
              <a:spcAft>
                <a:spcPct val="0"/>
              </a:spcAft>
              <a:defRPr sz="7200">
                <a:solidFill>
                  <a:schemeClr val="tx1"/>
                </a:solidFill>
                <a:latin typeface="Arial" panose="020B0604020202020204" pitchFamily="34" charset="0"/>
              </a:defRPr>
            </a:lvl9pPr>
          </a:lstStyle>
          <a:p>
            <a:pPr eaLnBrk="1" hangingPunct="1">
              <a:spcBef>
                <a:spcPts val="0"/>
              </a:spcBef>
              <a:spcAft>
                <a:spcPts val="0"/>
              </a:spcAft>
            </a:pPr>
            <a:endParaRPr lang="en-US" altLang="en-US" sz="3200">
              <a:cs typeface="Arial" panose="020B0604020202020204" pitchFamily="34" charset="0"/>
            </a:endParaRPr>
          </a:p>
        </p:txBody>
      </p:sp>
      <p:sp>
        <p:nvSpPr>
          <p:cNvPr id="7" name="TextBox 3">
            <a:extLst>
              <a:ext uri="{FF2B5EF4-FFF2-40B4-BE49-F238E27FC236}">
                <a16:creationId xmlns:a16="http://schemas.microsoft.com/office/drawing/2014/main" id="{D030F287-9D48-AEFC-4A15-570992DB31BC}"/>
              </a:ext>
            </a:extLst>
          </p:cNvPr>
          <p:cNvSpPr txBox="1">
            <a:spLocks noChangeArrowheads="1"/>
          </p:cNvSpPr>
          <p:nvPr/>
        </p:nvSpPr>
        <p:spPr bwMode="auto">
          <a:xfrm>
            <a:off x="746629" y="10069488"/>
            <a:ext cx="9829800" cy="4308872"/>
          </a:xfrm>
          <a:prstGeom prst="rect">
            <a:avLst/>
          </a:prstGeom>
          <a:solidFill>
            <a:schemeClr val="bg1">
              <a:alpha val="6313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7200">
                <a:solidFill>
                  <a:schemeClr val="tx1"/>
                </a:solidFill>
                <a:latin typeface="Arial" panose="020B0604020202020204" pitchFamily="34" charset="0"/>
              </a:defRPr>
            </a:lvl1pPr>
            <a:lvl2pPr marL="742950" indent="-285750">
              <a:defRPr sz="7200">
                <a:solidFill>
                  <a:schemeClr val="tx1"/>
                </a:solidFill>
                <a:latin typeface="Arial" panose="020B0604020202020204" pitchFamily="34" charset="0"/>
              </a:defRPr>
            </a:lvl2pPr>
            <a:lvl3pPr marL="1143000" indent="-228600">
              <a:defRPr sz="7200">
                <a:solidFill>
                  <a:schemeClr val="tx1"/>
                </a:solidFill>
                <a:latin typeface="Arial" panose="020B0604020202020204" pitchFamily="34" charset="0"/>
              </a:defRPr>
            </a:lvl3pPr>
            <a:lvl4pPr marL="1600200" indent="-228600">
              <a:defRPr sz="7200">
                <a:solidFill>
                  <a:schemeClr val="tx1"/>
                </a:solidFill>
                <a:latin typeface="Arial" panose="020B0604020202020204" pitchFamily="34" charset="0"/>
              </a:defRPr>
            </a:lvl4pPr>
            <a:lvl5pPr marL="2057400" indent="-228600">
              <a:defRPr sz="7200">
                <a:solidFill>
                  <a:schemeClr val="tx1"/>
                </a:solidFill>
                <a:latin typeface="Arial" panose="020B0604020202020204" pitchFamily="34" charset="0"/>
              </a:defRPr>
            </a:lvl5pPr>
            <a:lvl6pPr marL="2514600" indent="-228600" defTabSz="3686175" eaLnBrk="0" fontAlgn="base" hangingPunct="0">
              <a:spcBef>
                <a:spcPct val="0"/>
              </a:spcBef>
              <a:spcAft>
                <a:spcPct val="0"/>
              </a:spcAft>
              <a:defRPr sz="7200">
                <a:solidFill>
                  <a:schemeClr val="tx1"/>
                </a:solidFill>
                <a:latin typeface="Arial" panose="020B0604020202020204" pitchFamily="34" charset="0"/>
              </a:defRPr>
            </a:lvl6pPr>
            <a:lvl7pPr marL="2971800" indent="-228600" defTabSz="3686175" eaLnBrk="0" fontAlgn="base" hangingPunct="0">
              <a:spcBef>
                <a:spcPct val="0"/>
              </a:spcBef>
              <a:spcAft>
                <a:spcPct val="0"/>
              </a:spcAft>
              <a:defRPr sz="7200">
                <a:solidFill>
                  <a:schemeClr val="tx1"/>
                </a:solidFill>
                <a:latin typeface="Arial" panose="020B0604020202020204" pitchFamily="34" charset="0"/>
              </a:defRPr>
            </a:lvl7pPr>
            <a:lvl8pPr marL="3429000" indent="-228600" defTabSz="3686175" eaLnBrk="0" fontAlgn="base" hangingPunct="0">
              <a:spcBef>
                <a:spcPct val="0"/>
              </a:spcBef>
              <a:spcAft>
                <a:spcPct val="0"/>
              </a:spcAft>
              <a:defRPr sz="7200">
                <a:solidFill>
                  <a:schemeClr val="tx1"/>
                </a:solidFill>
                <a:latin typeface="Arial" panose="020B0604020202020204" pitchFamily="34" charset="0"/>
              </a:defRPr>
            </a:lvl8pPr>
            <a:lvl9pPr marL="3886200" indent="-228600" defTabSz="3686175" eaLnBrk="0" fontAlgn="base" hangingPunct="0">
              <a:spcBef>
                <a:spcPct val="0"/>
              </a:spcBef>
              <a:spcAft>
                <a:spcPct val="0"/>
              </a:spcAft>
              <a:defRPr sz="7200">
                <a:solidFill>
                  <a:schemeClr val="tx1"/>
                </a:solidFill>
                <a:latin typeface="Arial" panose="020B0604020202020204" pitchFamily="34" charset="0"/>
              </a:defRPr>
            </a:lvl9pPr>
          </a:lstStyle>
          <a:p>
            <a:pPr algn="ctr"/>
            <a:r>
              <a:rPr lang="en-US" sz="5000" b="1" dirty="0">
                <a:solidFill>
                  <a:srgbClr val="005BBB"/>
                </a:solidFill>
                <a:cs typeface="Arial" panose="020B0604020202020204" pitchFamily="34" charset="0"/>
              </a:rPr>
              <a:t>Introduction</a:t>
            </a:r>
          </a:p>
          <a:p>
            <a:pPr marL="457200" indent="-457200" algn="just" eaLnBrk="1" hangingPunct="1">
              <a:spcBef>
                <a:spcPts val="0"/>
              </a:spcBef>
              <a:spcAft>
                <a:spcPts val="0"/>
              </a:spcAft>
              <a:buFont typeface="Arial" panose="020B0604020202020204" pitchFamily="34" charset="0"/>
              <a:buChar char="•"/>
            </a:pPr>
            <a:r>
              <a:rPr lang="en-US" sz="3200" dirty="0">
                <a:cs typeface="Arial" panose="020B0604020202020204" pitchFamily="34" charset="0"/>
              </a:rPr>
              <a:t>Lung cancer is  the leading cause of cancer-related mortality in the United States.</a:t>
            </a:r>
          </a:p>
          <a:p>
            <a:pPr marL="457200" indent="-457200" eaLnBrk="1" hangingPunct="1">
              <a:spcBef>
                <a:spcPts val="0"/>
              </a:spcBef>
              <a:spcAft>
                <a:spcPts val="0"/>
              </a:spcAft>
              <a:buFont typeface="Arial" panose="020B0604020202020204" pitchFamily="34" charset="0"/>
              <a:buChar char="•"/>
            </a:pPr>
            <a:endParaRPr lang="en-US" sz="3200" dirty="0">
              <a:cs typeface="Arial" panose="020B0604020202020204" pitchFamily="34" charset="0"/>
            </a:endParaRPr>
          </a:p>
          <a:p>
            <a:pPr marL="457200" indent="-457200" algn="just" eaLnBrk="1" hangingPunct="1">
              <a:spcBef>
                <a:spcPts val="0"/>
              </a:spcBef>
              <a:spcAft>
                <a:spcPts val="0"/>
              </a:spcAft>
              <a:buFont typeface="Arial" panose="020B0604020202020204" pitchFamily="34" charset="0"/>
              <a:buChar char="•"/>
            </a:pPr>
            <a:r>
              <a:rPr lang="en-US" sz="3200" dirty="0">
                <a:cs typeface="Arial" panose="020B0604020202020204" pitchFamily="34" charset="0"/>
              </a:rPr>
              <a:t>African American patients disproportionately impacts in terms of higher incidence rate, more frequent late-stage diagnoses, reduced access to treatment, and lower survival ratel.</a:t>
            </a:r>
            <a:endParaRPr lang="en-US" altLang="en-US" sz="3200" dirty="0">
              <a:cs typeface="Arial" panose="020B0604020202020204" pitchFamily="34" charset="0"/>
            </a:endParaRPr>
          </a:p>
        </p:txBody>
      </p:sp>
      <p:sp>
        <p:nvSpPr>
          <p:cNvPr id="9" name="TextBox 8">
            <a:extLst>
              <a:ext uri="{FF2B5EF4-FFF2-40B4-BE49-F238E27FC236}">
                <a16:creationId xmlns:a16="http://schemas.microsoft.com/office/drawing/2014/main" id="{804B5047-1B30-C859-BBFD-5F4ECD146AB7}"/>
              </a:ext>
            </a:extLst>
          </p:cNvPr>
          <p:cNvSpPr txBox="1">
            <a:spLocks noChangeArrowheads="1"/>
          </p:cNvSpPr>
          <p:nvPr/>
        </p:nvSpPr>
        <p:spPr bwMode="auto">
          <a:xfrm>
            <a:off x="886618" y="21497279"/>
            <a:ext cx="9829800" cy="10559109"/>
          </a:xfrm>
          <a:prstGeom prst="rect">
            <a:avLst/>
          </a:prstGeom>
          <a:solidFill>
            <a:schemeClr val="bg1">
              <a:alpha val="6313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7200">
                <a:solidFill>
                  <a:schemeClr val="tx1"/>
                </a:solidFill>
                <a:latin typeface="Arial" panose="020B0604020202020204" pitchFamily="34" charset="0"/>
              </a:defRPr>
            </a:lvl1pPr>
            <a:lvl2pPr marL="914400" indent="-457200">
              <a:defRPr sz="7200">
                <a:solidFill>
                  <a:schemeClr val="tx1"/>
                </a:solidFill>
                <a:latin typeface="Arial" panose="020B0604020202020204" pitchFamily="34" charset="0"/>
              </a:defRPr>
            </a:lvl2pPr>
            <a:lvl3pPr marL="1143000" indent="-228600">
              <a:defRPr sz="7200">
                <a:solidFill>
                  <a:schemeClr val="tx1"/>
                </a:solidFill>
                <a:latin typeface="Arial" panose="020B0604020202020204" pitchFamily="34" charset="0"/>
              </a:defRPr>
            </a:lvl3pPr>
            <a:lvl4pPr marL="1600200" indent="-228600">
              <a:defRPr sz="7200">
                <a:solidFill>
                  <a:schemeClr val="tx1"/>
                </a:solidFill>
                <a:latin typeface="Arial" panose="020B0604020202020204" pitchFamily="34" charset="0"/>
              </a:defRPr>
            </a:lvl4pPr>
            <a:lvl5pPr marL="2057400" indent="-228600">
              <a:defRPr sz="7200">
                <a:solidFill>
                  <a:schemeClr val="tx1"/>
                </a:solidFill>
                <a:latin typeface="Arial" panose="020B0604020202020204" pitchFamily="34" charset="0"/>
              </a:defRPr>
            </a:lvl5pPr>
            <a:lvl6pPr marL="2514600" indent="-228600" defTabSz="3686175" eaLnBrk="0" fontAlgn="base" hangingPunct="0">
              <a:spcBef>
                <a:spcPct val="0"/>
              </a:spcBef>
              <a:spcAft>
                <a:spcPct val="0"/>
              </a:spcAft>
              <a:defRPr sz="7200">
                <a:solidFill>
                  <a:schemeClr val="tx1"/>
                </a:solidFill>
                <a:latin typeface="Arial" panose="020B0604020202020204" pitchFamily="34" charset="0"/>
              </a:defRPr>
            </a:lvl6pPr>
            <a:lvl7pPr marL="2971800" indent="-228600" defTabSz="3686175" eaLnBrk="0" fontAlgn="base" hangingPunct="0">
              <a:spcBef>
                <a:spcPct val="0"/>
              </a:spcBef>
              <a:spcAft>
                <a:spcPct val="0"/>
              </a:spcAft>
              <a:defRPr sz="7200">
                <a:solidFill>
                  <a:schemeClr val="tx1"/>
                </a:solidFill>
                <a:latin typeface="Arial" panose="020B0604020202020204" pitchFamily="34" charset="0"/>
              </a:defRPr>
            </a:lvl7pPr>
            <a:lvl8pPr marL="3429000" indent="-228600" defTabSz="3686175" eaLnBrk="0" fontAlgn="base" hangingPunct="0">
              <a:spcBef>
                <a:spcPct val="0"/>
              </a:spcBef>
              <a:spcAft>
                <a:spcPct val="0"/>
              </a:spcAft>
              <a:defRPr sz="7200">
                <a:solidFill>
                  <a:schemeClr val="tx1"/>
                </a:solidFill>
                <a:latin typeface="Arial" panose="020B0604020202020204" pitchFamily="34" charset="0"/>
              </a:defRPr>
            </a:lvl8pPr>
            <a:lvl9pPr marL="3886200" indent="-228600" defTabSz="3686175" eaLnBrk="0" fontAlgn="base" hangingPunct="0">
              <a:spcBef>
                <a:spcPct val="0"/>
              </a:spcBef>
              <a:spcAft>
                <a:spcPct val="0"/>
              </a:spcAft>
              <a:defRPr sz="7200">
                <a:solidFill>
                  <a:schemeClr val="tx1"/>
                </a:solidFill>
                <a:latin typeface="Arial" panose="020B0604020202020204" pitchFamily="34" charset="0"/>
              </a:defRPr>
            </a:lvl9pPr>
          </a:lstStyle>
          <a:p>
            <a:pPr algn="ctr">
              <a:lnSpc>
                <a:spcPts val="4600"/>
              </a:lnSpc>
            </a:pPr>
            <a:r>
              <a:rPr lang="en-US" sz="5000" b="1" dirty="0">
                <a:solidFill>
                  <a:srgbClr val="005BBB"/>
                </a:solidFill>
                <a:cs typeface="Arial" panose="020B0604020202020204" pitchFamily="34" charset="0"/>
              </a:rPr>
              <a:t>Methods</a:t>
            </a:r>
          </a:p>
          <a:p>
            <a:pPr eaLnBrk="1" hangingPunct="1">
              <a:lnSpc>
                <a:spcPts val="4600"/>
              </a:lnSpc>
              <a:spcBef>
                <a:spcPts val="0"/>
              </a:spcBef>
              <a:spcAft>
                <a:spcPts val="0"/>
              </a:spcAft>
            </a:pPr>
            <a:r>
              <a:rPr lang="en-US" altLang="en-US" sz="3200" b="1" dirty="0">
                <a:solidFill>
                  <a:schemeClr val="tx2"/>
                </a:solidFill>
                <a:cs typeface="Arial" panose="020B0604020202020204" pitchFamily="34" charset="0"/>
              </a:rPr>
              <a:t>Study Design </a:t>
            </a:r>
            <a:endParaRPr lang="en-US" altLang="en-US" sz="3200" dirty="0">
              <a:cs typeface="Arial" panose="020B0604020202020204" pitchFamily="34" charset="0"/>
            </a:endParaRPr>
          </a:p>
          <a:p>
            <a:pPr lvl="1" eaLnBrk="1" hangingPunct="1">
              <a:lnSpc>
                <a:spcPts val="4600"/>
              </a:lnSpc>
              <a:spcBef>
                <a:spcPts val="0"/>
              </a:spcBef>
              <a:spcAft>
                <a:spcPts val="0"/>
              </a:spcAft>
              <a:buClr>
                <a:schemeClr val="tx2"/>
              </a:buClr>
              <a:buSzPct val="125000"/>
              <a:buFont typeface="Arial" panose="020B0604020202020204" pitchFamily="34" charset="0"/>
              <a:buChar char="•"/>
            </a:pPr>
            <a:r>
              <a:rPr lang="en-US" sz="3200" dirty="0">
                <a:cs typeface="Arial" panose="020B0604020202020204" pitchFamily="34" charset="0"/>
              </a:rPr>
              <a:t>Retrospective cohort study</a:t>
            </a:r>
          </a:p>
          <a:p>
            <a:pPr lvl="1" eaLnBrk="1" hangingPunct="1">
              <a:lnSpc>
                <a:spcPts val="4600"/>
              </a:lnSpc>
              <a:spcBef>
                <a:spcPts val="0"/>
              </a:spcBef>
              <a:spcAft>
                <a:spcPts val="0"/>
              </a:spcAft>
              <a:buClr>
                <a:schemeClr val="tx2"/>
              </a:buClr>
              <a:buSzPct val="125000"/>
              <a:buFont typeface="Arial" panose="020B0604020202020204" pitchFamily="34" charset="0"/>
              <a:buChar char="•"/>
            </a:pPr>
            <a:endParaRPr lang="en-US" altLang="en-US" sz="3200" dirty="0">
              <a:cs typeface="Arial" panose="020B0604020202020204" pitchFamily="34" charset="0"/>
            </a:endParaRPr>
          </a:p>
          <a:p>
            <a:pPr eaLnBrk="1" hangingPunct="1">
              <a:lnSpc>
                <a:spcPts val="4600"/>
              </a:lnSpc>
              <a:spcBef>
                <a:spcPts val="0"/>
              </a:spcBef>
              <a:spcAft>
                <a:spcPts val="0"/>
              </a:spcAft>
              <a:buClr>
                <a:schemeClr val="tx2"/>
              </a:buClr>
              <a:buSzPct val="125000"/>
            </a:pPr>
            <a:r>
              <a:rPr lang="en-US" altLang="en-US" sz="3200" b="1" dirty="0">
                <a:solidFill>
                  <a:schemeClr val="tx2"/>
                </a:solidFill>
                <a:cs typeface="Arial" panose="020B0604020202020204" pitchFamily="34" charset="0"/>
              </a:rPr>
              <a:t>Population</a:t>
            </a:r>
            <a:endParaRPr lang="en-US" altLang="en-US" sz="3200" dirty="0">
              <a:cs typeface="Arial" panose="020B0604020202020204" pitchFamily="34" charset="0"/>
            </a:endParaRPr>
          </a:p>
          <a:p>
            <a:pPr lvl="1" eaLnBrk="1" hangingPunct="1">
              <a:lnSpc>
                <a:spcPts val="4600"/>
              </a:lnSpc>
              <a:spcBef>
                <a:spcPts val="0"/>
              </a:spcBef>
              <a:spcAft>
                <a:spcPts val="0"/>
              </a:spcAft>
              <a:buClr>
                <a:schemeClr val="tx2"/>
              </a:buClr>
              <a:buSzPct val="125000"/>
              <a:buFont typeface="Arial" panose="020B0604020202020204" pitchFamily="34" charset="0"/>
              <a:buChar char="•"/>
            </a:pPr>
            <a:r>
              <a:rPr lang="en-US" sz="3200" dirty="0">
                <a:cs typeface="Arial" panose="020B0604020202020204" pitchFamily="34" charset="0"/>
              </a:rPr>
              <a:t>300 adult patients with histologically confirmed primary lung cancer reflective of the  Grady Memorial Hospital population</a:t>
            </a:r>
          </a:p>
          <a:p>
            <a:pPr lvl="1" eaLnBrk="1" hangingPunct="1">
              <a:lnSpc>
                <a:spcPts val="4600"/>
              </a:lnSpc>
              <a:spcBef>
                <a:spcPts val="0"/>
              </a:spcBef>
              <a:spcAft>
                <a:spcPts val="0"/>
              </a:spcAft>
              <a:buClr>
                <a:schemeClr val="tx2"/>
              </a:buClr>
              <a:buSzPct val="125000"/>
              <a:buFont typeface="Arial" panose="020B0604020202020204" pitchFamily="34" charset="0"/>
              <a:buChar char="•"/>
            </a:pPr>
            <a:endParaRPr lang="en-US" sz="3200" dirty="0">
              <a:cs typeface="Arial" panose="020B0604020202020204" pitchFamily="34" charset="0"/>
            </a:endParaRPr>
          </a:p>
          <a:p>
            <a:pPr eaLnBrk="1" hangingPunct="1">
              <a:lnSpc>
                <a:spcPts val="4600"/>
              </a:lnSpc>
              <a:spcBef>
                <a:spcPts val="0"/>
              </a:spcBef>
              <a:spcAft>
                <a:spcPts val="0"/>
              </a:spcAft>
              <a:buClr>
                <a:schemeClr val="tx2"/>
              </a:buClr>
              <a:buSzPct val="125000"/>
            </a:pPr>
            <a:r>
              <a:rPr lang="en-US" sz="3200" b="1" dirty="0">
                <a:solidFill>
                  <a:schemeClr val="tx2"/>
                </a:solidFill>
                <a:cs typeface="Arial" panose="020B0604020202020204" pitchFamily="34" charset="0"/>
              </a:rPr>
              <a:t>Variables Analyzed</a:t>
            </a:r>
            <a:endParaRPr lang="en-US" altLang="en-US" sz="3200" b="1" dirty="0">
              <a:solidFill>
                <a:schemeClr val="tx2"/>
              </a:solidFill>
              <a:cs typeface="Arial" panose="020B0604020202020204" pitchFamily="34" charset="0"/>
            </a:endParaRPr>
          </a:p>
          <a:p>
            <a:pPr lvl="1" eaLnBrk="1" hangingPunct="1">
              <a:lnSpc>
                <a:spcPts val="4600"/>
              </a:lnSpc>
              <a:spcBef>
                <a:spcPts val="0"/>
              </a:spcBef>
              <a:spcAft>
                <a:spcPts val="0"/>
              </a:spcAft>
              <a:buClr>
                <a:schemeClr val="tx2"/>
              </a:buClr>
              <a:buSzPct val="125000"/>
              <a:buFont typeface="Arial" panose="020B0604020202020204" pitchFamily="34" charset="0"/>
              <a:buChar char="•"/>
            </a:pPr>
            <a:r>
              <a:rPr lang="en-US" sz="3200" dirty="0">
                <a:cs typeface="Arial" panose="020B0604020202020204" pitchFamily="34" charset="0"/>
              </a:rPr>
              <a:t>Race/ethnicity and histological subtype</a:t>
            </a:r>
          </a:p>
          <a:p>
            <a:pPr lvl="1" eaLnBrk="1" hangingPunct="1">
              <a:lnSpc>
                <a:spcPts val="4600"/>
              </a:lnSpc>
              <a:spcBef>
                <a:spcPts val="0"/>
              </a:spcBef>
              <a:spcAft>
                <a:spcPts val="0"/>
              </a:spcAft>
              <a:buClr>
                <a:schemeClr val="tx2"/>
              </a:buClr>
              <a:buSzPct val="125000"/>
              <a:buFont typeface="Arial" panose="020B0604020202020204" pitchFamily="34" charset="0"/>
              <a:buChar char="•"/>
            </a:pPr>
            <a:r>
              <a:rPr lang="en-US" sz="3200" dirty="0">
                <a:cs typeface="Arial" panose="020B0604020202020204" pitchFamily="34" charset="0"/>
              </a:rPr>
              <a:t>TNM staging and treatment history</a:t>
            </a:r>
          </a:p>
          <a:p>
            <a:pPr lvl="1" eaLnBrk="1" hangingPunct="1">
              <a:lnSpc>
                <a:spcPts val="4600"/>
              </a:lnSpc>
              <a:spcBef>
                <a:spcPts val="0"/>
              </a:spcBef>
              <a:spcAft>
                <a:spcPts val="0"/>
              </a:spcAft>
              <a:buClr>
                <a:schemeClr val="tx2"/>
              </a:buClr>
              <a:buSzPct val="125000"/>
              <a:buFont typeface="Arial" panose="020B0604020202020204" pitchFamily="34" charset="0"/>
              <a:buChar char="•"/>
            </a:pPr>
            <a:r>
              <a:rPr lang="en-US" sz="3200" dirty="0">
                <a:cs typeface="Arial" panose="020B0604020202020204" pitchFamily="34" charset="0"/>
              </a:rPr>
              <a:t>Socioeconomic indicators</a:t>
            </a:r>
          </a:p>
          <a:p>
            <a:pPr lvl="1" eaLnBrk="1" hangingPunct="1">
              <a:lnSpc>
                <a:spcPts val="4600"/>
              </a:lnSpc>
              <a:spcBef>
                <a:spcPts val="0"/>
              </a:spcBef>
              <a:spcAft>
                <a:spcPts val="0"/>
              </a:spcAft>
              <a:buClr>
                <a:schemeClr val="tx2"/>
              </a:buClr>
              <a:buSzPct val="125000"/>
              <a:buFont typeface="Arial" panose="020B0604020202020204" pitchFamily="34" charset="0"/>
              <a:buChar char="•"/>
            </a:pPr>
            <a:r>
              <a:rPr lang="en-US" sz="3200" dirty="0">
                <a:cs typeface="Arial" panose="020B0604020202020204" pitchFamily="34" charset="0"/>
              </a:rPr>
              <a:t>Smoking status and demographics</a:t>
            </a:r>
          </a:p>
          <a:p>
            <a:pPr lvl="1" eaLnBrk="1" hangingPunct="1">
              <a:lnSpc>
                <a:spcPts val="4600"/>
              </a:lnSpc>
              <a:spcBef>
                <a:spcPts val="0"/>
              </a:spcBef>
              <a:spcAft>
                <a:spcPts val="0"/>
              </a:spcAft>
              <a:buClr>
                <a:schemeClr val="tx2"/>
              </a:buClr>
              <a:buSzPct val="125000"/>
              <a:buFont typeface="Arial" panose="020B0604020202020204" pitchFamily="34" charset="0"/>
              <a:buChar char="•"/>
            </a:pPr>
            <a:endParaRPr lang="en-US" sz="3200" dirty="0">
              <a:cs typeface="Arial" panose="020B0604020202020204" pitchFamily="34" charset="0"/>
            </a:endParaRPr>
          </a:p>
          <a:p>
            <a:pPr eaLnBrk="1" hangingPunct="1">
              <a:lnSpc>
                <a:spcPts val="4600"/>
              </a:lnSpc>
              <a:spcBef>
                <a:spcPts val="0"/>
              </a:spcBef>
              <a:spcAft>
                <a:spcPts val="0"/>
              </a:spcAft>
              <a:buClr>
                <a:schemeClr val="tx2"/>
              </a:buClr>
              <a:buSzPct val="125000"/>
            </a:pPr>
            <a:r>
              <a:rPr lang="en-US" sz="3200" b="1" dirty="0">
                <a:solidFill>
                  <a:schemeClr val="tx2"/>
                </a:solidFill>
                <a:cs typeface="Arial" panose="020B0604020202020204" pitchFamily="34" charset="0"/>
              </a:rPr>
              <a:t>Statistical Analysis</a:t>
            </a:r>
            <a:endParaRPr lang="en-US" altLang="en-US" sz="3200" b="1" dirty="0">
              <a:solidFill>
                <a:schemeClr val="tx2"/>
              </a:solidFill>
              <a:cs typeface="Arial" panose="020B0604020202020204" pitchFamily="34" charset="0"/>
            </a:endParaRPr>
          </a:p>
          <a:p>
            <a:pPr lvl="1" eaLnBrk="1" hangingPunct="1">
              <a:lnSpc>
                <a:spcPts val="4600"/>
              </a:lnSpc>
              <a:spcBef>
                <a:spcPts val="0"/>
              </a:spcBef>
              <a:spcAft>
                <a:spcPts val="0"/>
              </a:spcAft>
              <a:buClr>
                <a:schemeClr val="tx2"/>
              </a:buClr>
              <a:buSzPct val="125000"/>
              <a:buFont typeface="Arial" panose="020B0604020202020204" pitchFamily="34" charset="0"/>
              <a:buChar char="•"/>
            </a:pPr>
            <a:r>
              <a:rPr lang="en-US" sz="3200" dirty="0">
                <a:cs typeface="Arial" panose="020B0604020202020204" pitchFamily="34" charset="0"/>
              </a:rPr>
              <a:t>Chi-square tests and</a:t>
            </a:r>
          </a:p>
          <a:p>
            <a:pPr lvl="1" eaLnBrk="1" hangingPunct="1">
              <a:lnSpc>
                <a:spcPts val="4600"/>
              </a:lnSpc>
              <a:spcBef>
                <a:spcPts val="0"/>
              </a:spcBef>
              <a:spcAft>
                <a:spcPts val="0"/>
              </a:spcAft>
              <a:buClr>
                <a:schemeClr val="tx2"/>
              </a:buClr>
              <a:buSzPct val="125000"/>
              <a:buFont typeface="Arial" panose="020B0604020202020204" pitchFamily="34" charset="0"/>
              <a:buChar char="•"/>
            </a:pPr>
            <a:r>
              <a:rPr lang="en-US" sz="3200" dirty="0">
                <a:cs typeface="Arial" panose="020B0604020202020204" pitchFamily="34" charset="0"/>
              </a:rPr>
              <a:t>Multivariable logistic regression models </a:t>
            </a:r>
          </a:p>
        </p:txBody>
      </p:sp>
      <p:sp>
        <p:nvSpPr>
          <p:cNvPr id="10" name="TextBox 9">
            <a:extLst>
              <a:ext uri="{FF2B5EF4-FFF2-40B4-BE49-F238E27FC236}">
                <a16:creationId xmlns:a16="http://schemas.microsoft.com/office/drawing/2014/main" id="{5D244712-9CC1-6CBD-19D0-8D7A02E9EEDF}"/>
              </a:ext>
            </a:extLst>
          </p:cNvPr>
          <p:cNvSpPr txBox="1">
            <a:spLocks noChangeArrowheads="1"/>
          </p:cNvSpPr>
          <p:nvPr/>
        </p:nvSpPr>
        <p:spPr bwMode="auto">
          <a:xfrm>
            <a:off x="11658600" y="6048375"/>
            <a:ext cx="982980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7200">
                <a:solidFill>
                  <a:schemeClr val="tx1"/>
                </a:solidFill>
                <a:latin typeface="Arial" panose="020B0604020202020204" pitchFamily="34" charset="0"/>
              </a:defRPr>
            </a:lvl1pPr>
            <a:lvl2pPr marL="742950" indent="-285750">
              <a:defRPr sz="7200">
                <a:solidFill>
                  <a:schemeClr val="tx1"/>
                </a:solidFill>
                <a:latin typeface="Arial" panose="020B0604020202020204" pitchFamily="34" charset="0"/>
              </a:defRPr>
            </a:lvl2pPr>
            <a:lvl3pPr marL="1143000" indent="-228600">
              <a:defRPr sz="7200">
                <a:solidFill>
                  <a:schemeClr val="tx1"/>
                </a:solidFill>
                <a:latin typeface="Arial" panose="020B0604020202020204" pitchFamily="34" charset="0"/>
              </a:defRPr>
            </a:lvl3pPr>
            <a:lvl4pPr marL="1600200" indent="-228600">
              <a:defRPr sz="7200">
                <a:solidFill>
                  <a:schemeClr val="tx1"/>
                </a:solidFill>
                <a:latin typeface="Arial" panose="020B0604020202020204" pitchFamily="34" charset="0"/>
              </a:defRPr>
            </a:lvl4pPr>
            <a:lvl5pPr marL="2057400" indent="-228600">
              <a:defRPr sz="7200">
                <a:solidFill>
                  <a:schemeClr val="tx1"/>
                </a:solidFill>
                <a:latin typeface="Arial" panose="020B0604020202020204" pitchFamily="34" charset="0"/>
              </a:defRPr>
            </a:lvl5pPr>
            <a:lvl6pPr marL="2514600" indent="-228600" defTabSz="3686175" eaLnBrk="0" fontAlgn="base" hangingPunct="0">
              <a:spcBef>
                <a:spcPct val="0"/>
              </a:spcBef>
              <a:spcAft>
                <a:spcPct val="0"/>
              </a:spcAft>
              <a:defRPr sz="7200">
                <a:solidFill>
                  <a:schemeClr val="tx1"/>
                </a:solidFill>
                <a:latin typeface="Arial" panose="020B0604020202020204" pitchFamily="34" charset="0"/>
              </a:defRPr>
            </a:lvl6pPr>
            <a:lvl7pPr marL="2971800" indent="-228600" defTabSz="3686175" eaLnBrk="0" fontAlgn="base" hangingPunct="0">
              <a:spcBef>
                <a:spcPct val="0"/>
              </a:spcBef>
              <a:spcAft>
                <a:spcPct val="0"/>
              </a:spcAft>
              <a:defRPr sz="7200">
                <a:solidFill>
                  <a:schemeClr val="tx1"/>
                </a:solidFill>
                <a:latin typeface="Arial" panose="020B0604020202020204" pitchFamily="34" charset="0"/>
              </a:defRPr>
            </a:lvl7pPr>
            <a:lvl8pPr marL="3429000" indent="-228600" defTabSz="3686175" eaLnBrk="0" fontAlgn="base" hangingPunct="0">
              <a:spcBef>
                <a:spcPct val="0"/>
              </a:spcBef>
              <a:spcAft>
                <a:spcPct val="0"/>
              </a:spcAft>
              <a:defRPr sz="7200">
                <a:solidFill>
                  <a:schemeClr val="tx1"/>
                </a:solidFill>
                <a:latin typeface="Arial" panose="020B0604020202020204" pitchFamily="34" charset="0"/>
              </a:defRPr>
            </a:lvl8pPr>
            <a:lvl9pPr marL="3886200" indent="-228600" defTabSz="3686175" eaLnBrk="0" fontAlgn="base" hangingPunct="0">
              <a:spcBef>
                <a:spcPct val="0"/>
              </a:spcBef>
              <a:spcAft>
                <a:spcPct val="0"/>
              </a:spcAft>
              <a:defRPr sz="7200">
                <a:solidFill>
                  <a:schemeClr val="tx1"/>
                </a:solidFill>
                <a:latin typeface="Arial" panose="020B0604020202020204" pitchFamily="34" charset="0"/>
              </a:defRPr>
            </a:lvl9pPr>
          </a:lstStyle>
          <a:p>
            <a:pPr eaLnBrk="1" hangingPunct="1">
              <a:spcBef>
                <a:spcPts val="0"/>
              </a:spcBef>
              <a:spcAft>
                <a:spcPts val="0"/>
              </a:spcAft>
            </a:pPr>
            <a:r>
              <a:rPr lang="en-US" altLang="en-US" sz="5000" b="1" dirty="0">
                <a:solidFill>
                  <a:srgbClr val="005BBB"/>
                </a:solidFill>
                <a:cs typeface="Arial" panose="020B0604020202020204" pitchFamily="34" charset="0"/>
              </a:rPr>
              <a:t>Demographics &amp; Data Analysis </a:t>
            </a:r>
          </a:p>
        </p:txBody>
      </p:sp>
      <p:sp>
        <p:nvSpPr>
          <p:cNvPr id="11" name="TextBox 18">
            <a:extLst>
              <a:ext uri="{FF2B5EF4-FFF2-40B4-BE49-F238E27FC236}">
                <a16:creationId xmlns:a16="http://schemas.microsoft.com/office/drawing/2014/main" id="{DDC4AAB1-4B51-3BAB-983D-90ECC8792BCB}"/>
              </a:ext>
            </a:extLst>
          </p:cNvPr>
          <p:cNvSpPr txBox="1">
            <a:spLocks noChangeArrowheads="1"/>
          </p:cNvSpPr>
          <p:nvPr/>
        </p:nvSpPr>
        <p:spPr bwMode="auto">
          <a:xfrm>
            <a:off x="11628438" y="7013575"/>
            <a:ext cx="9829800" cy="584775"/>
          </a:xfrm>
          <a:prstGeom prst="rect">
            <a:avLst/>
          </a:prstGeom>
          <a:solidFill>
            <a:schemeClr val="bg1">
              <a:alpha val="6313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7200">
                <a:solidFill>
                  <a:schemeClr val="tx1"/>
                </a:solidFill>
                <a:latin typeface="Arial" panose="020B0604020202020204" pitchFamily="34" charset="0"/>
              </a:defRPr>
            </a:lvl1pPr>
            <a:lvl2pPr marL="742950" indent="-285750">
              <a:defRPr sz="7200">
                <a:solidFill>
                  <a:schemeClr val="tx1"/>
                </a:solidFill>
                <a:latin typeface="Arial" panose="020B0604020202020204" pitchFamily="34" charset="0"/>
              </a:defRPr>
            </a:lvl2pPr>
            <a:lvl3pPr marL="1143000" indent="-228600">
              <a:defRPr sz="7200">
                <a:solidFill>
                  <a:schemeClr val="tx1"/>
                </a:solidFill>
                <a:latin typeface="Arial" panose="020B0604020202020204" pitchFamily="34" charset="0"/>
              </a:defRPr>
            </a:lvl3pPr>
            <a:lvl4pPr marL="1600200" indent="-228600">
              <a:defRPr sz="7200">
                <a:solidFill>
                  <a:schemeClr val="tx1"/>
                </a:solidFill>
                <a:latin typeface="Arial" panose="020B0604020202020204" pitchFamily="34" charset="0"/>
              </a:defRPr>
            </a:lvl4pPr>
            <a:lvl5pPr marL="2057400" indent="-228600">
              <a:defRPr sz="7200">
                <a:solidFill>
                  <a:schemeClr val="tx1"/>
                </a:solidFill>
                <a:latin typeface="Arial" panose="020B0604020202020204" pitchFamily="34" charset="0"/>
              </a:defRPr>
            </a:lvl5pPr>
            <a:lvl6pPr marL="2514600" indent="-228600" defTabSz="3686175" eaLnBrk="0" fontAlgn="base" hangingPunct="0">
              <a:spcBef>
                <a:spcPct val="0"/>
              </a:spcBef>
              <a:spcAft>
                <a:spcPct val="0"/>
              </a:spcAft>
              <a:defRPr sz="7200">
                <a:solidFill>
                  <a:schemeClr val="tx1"/>
                </a:solidFill>
                <a:latin typeface="Arial" panose="020B0604020202020204" pitchFamily="34" charset="0"/>
              </a:defRPr>
            </a:lvl6pPr>
            <a:lvl7pPr marL="2971800" indent="-228600" defTabSz="3686175" eaLnBrk="0" fontAlgn="base" hangingPunct="0">
              <a:spcBef>
                <a:spcPct val="0"/>
              </a:spcBef>
              <a:spcAft>
                <a:spcPct val="0"/>
              </a:spcAft>
              <a:defRPr sz="7200">
                <a:solidFill>
                  <a:schemeClr val="tx1"/>
                </a:solidFill>
                <a:latin typeface="Arial" panose="020B0604020202020204" pitchFamily="34" charset="0"/>
              </a:defRPr>
            </a:lvl7pPr>
            <a:lvl8pPr marL="3429000" indent="-228600" defTabSz="3686175" eaLnBrk="0" fontAlgn="base" hangingPunct="0">
              <a:spcBef>
                <a:spcPct val="0"/>
              </a:spcBef>
              <a:spcAft>
                <a:spcPct val="0"/>
              </a:spcAft>
              <a:defRPr sz="7200">
                <a:solidFill>
                  <a:schemeClr val="tx1"/>
                </a:solidFill>
                <a:latin typeface="Arial" panose="020B0604020202020204" pitchFamily="34" charset="0"/>
              </a:defRPr>
            </a:lvl8pPr>
            <a:lvl9pPr marL="3886200" indent="-228600" defTabSz="3686175" eaLnBrk="0" fontAlgn="base" hangingPunct="0">
              <a:spcBef>
                <a:spcPct val="0"/>
              </a:spcBef>
              <a:spcAft>
                <a:spcPct val="0"/>
              </a:spcAft>
              <a:defRPr sz="7200">
                <a:solidFill>
                  <a:schemeClr val="tx1"/>
                </a:solidFill>
                <a:latin typeface="Arial" panose="020B0604020202020204" pitchFamily="34" charset="0"/>
              </a:defRPr>
            </a:lvl9pPr>
          </a:lstStyle>
          <a:p>
            <a:pPr eaLnBrk="1" hangingPunct="1">
              <a:spcBef>
                <a:spcPts val="0"/>
              </a:spcBef>
              <a:spcAft>
                <a:spcPts val="0"/>
              </a:spcAft>
            </a:pPr>
            <a:endParaRPr lang="en-US" altLang="en-US" sz="3200" dirty="0">
              <a:cs typeface="Arial" panose="020B0604020202020204" pitchFamily="34" charset="0"/>
            </a:endParaRPr>
          </a:p>
        </p:txBody>
      </p:sp>
      <p:sp>
        <p:nvSpPr>
          <p:cNvPr id="12" name="TextBox 19">
            <a:extLst>
              <a:ext uri="{FF2B5EF4-FFF2-40B4-BE49-F238E27FC236}">
                <a16:creationId xmlns:a16="http://schemas.microsoft.com/office/drawing/2014/main" id="{2F034C59-90F5-F211-FA97-488D840E9409}"/>
              </a:ext>
            </a:extLst>
          </p:cNvPr>
          <p:cNvSpPr txBox="1">
            <a:spLocks noChangeArrowheads="1"/>
          </p:cNvSpPr>
          <p:nvPr/>
        </p:nvSpPr>
        <p:spPr bwMode="auto">
          <a:xfrm>
            <a:off x="22076994" y="5771376"/>
            <a:ext cx="974090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7200">
                <a:solidFill>
                  <a:schemeClr val="tx1"/>
                </a:solidFill>
                <a:latin typeface="Arial" panose="020B0604020202020204" pitchFamily="34" charset="0"/>
              </a:defRPr>
            </a:lvl1pPr>
            <a:lvl2pPr marL="742950" indent="-285750">
              <a:defRPr sz="7200">
                <a:solidFill>
                  <a:schemeClr val="tx1"/>
                </a:solidFill>
                <a:latin typeface="Arial" panose="020B0604020202020204" pitchFamily="34" charset="0"/>
              </a:defRPr>
            </a:lvl2pPr>
            <a:lvl3pPr marL="1143000" indent="-228600">
              <a:defRPr sz="7200">
                <a:solidFill>
                  <a:schemeClr val="tx1"/>
                </a:solidFill>
                <a:latin typeface="Arial" panose="020B0604020202020204" pitchFamily="34" charset="0"/>
              </a:defRPr>
            </a:lvl3pPr>
            <a:lvl4pPr marL="1600200" indent="-228600">
              <a:defRPr sz="7200">
                <a:solidFill>
                  <a:schemeClr val="tx1"/>
                </a:solidFill>
                <a:latin typeface="Arial" panose="020B0604020202020204" pitchFamily="34" charset="0"/>
              </a:defRPr>
            </a:lvl4pPr>
            <a:lvl5pPr marL="2057400" indent="-228600">
              <a:defRPr sz="7200">
                <a:solidFill>
                  <a:schemeClr val="tx1"/>
                </a:solidFill>
                <a:latin typeface="Arial" panose="020B0604020202020204" pitchFamily="34" charset="0"/>
              </a:defRPr>
            </a:lvl5pPr>
            <a:lvl6pPr marL="2514600" indent="-228600" defTabSz="3686175" eaLnBrk="0" fontAlgn="base" hangingPunct="0">
              <a:spcBef>
                <a:spcPct val="0"/>
              </a:spcBef>
              <a:spcAft>
                <a:spcPct val="0"/>
              </a:spcAft>
              <a:defRPr sz="7200">
                <a:solidFill>
                  <a:schemeClr val="tx1"/>
                </a:solidFill>
                <a:latin typeface="Arial" panose="020B0604020202020204" pitchFamily="34" charset="0"/>
              </a:defRPr>
            </a:lvl6pPr>
            <a:lvl7pPr marL="2971800" indent="-228600" defTabSz="3686175" eaLnBrk="0" fontAlgn="base" hangingPunct="0">
              <a:spcBef>
                <a:spcPct val="0"/>
              </a:spcBef>
              <a:spcAft>
                <a:spcPct val="0"/>
              </a:spcAft>
              <a:defRPr sz="7200">
                <a:solidFill>
                  <a:schemeClr val="tx1"/>
                </a:solidFill>
                <a:latin typeface="Arial" panose="020B0604020202020204" pitchFamily="34" charset="0"/>
              </a:defRPr>
            </a:lvl7pPr>
            <a:lvl8pPr marL="3429000" indent="-228600" defTabSz="3686175" eaLnBrk="0" fontAlgn="base" hangingPunct="0">
              <a:spcBef>
                <a:spcPct val="0"/>
              </a:spcBef>
              <a:spcAft>
                <a:spcPct val="0"/>
              </a:spcAft>
              <a:defRPr sz="7200">
                <a:solidFill>
                  <a:schemeClr val="tx1"/>
                </a:solidFill>
                <a:latin typeface="Arial" panose="020B0604020202020204" pitchFamily="34" charset="0"/>
              </a:defRPr>
            </a:lvl8pPr>
            <a:lvl9pPr marL="3886200" indent="-228600" defTabSz="3686175" eaLnBrk="0" fontAlgn="base" hangingPunct="0">
              <a:spcBef>
                <a:spcPct val="0"/>
              </a:spcBef>
              <a:spcAft>
                <a:spcPct val="0"/>
              </a:spcAft>
              <a:defRPr sz="7200">
                <a:solidFill>
                  <a:schemeClr val="tx1"/>
                </a:solidFill>
                <a:latin typeface="Arial" panose="020B0604020202020204" pitchFamily="34" charset="0"/>
              </a:defRPr>
            </a:lvl9pPr>
          </a:lstStyle>
          <a:p>
            <a:pPr algn="ctr" eaLnBrk="1" hangingPunct="1">
              <a:spcBef>
                <a:spcPts val="0"/>
              </a:spcBef>
              <a:spcAft>
                <a:spcPts val="0"/>
              </a:spcAft>
            </a:pPr>
            <a:r>
              <a:rPr lang="en-US" altLang="en-US" sz="5000" b="1" dirty="0">
                <a:solidFill>
                  <a:srgbClr val="005BBB"/>
                </a:solidFill>
                <a:cs typeface="Arial" panose="020B0604020202020204" pitchFamily="34" charset="0"/>
              </a:rPr>
              <a:t>Results</a:t>
            </a:r>
          </a:p>
        </p:txBody>
      </p:sp>
      <p:sp>
        <p:nvSpPr>
          <p:cNvPr id="14" name="TextBox 21">
            <a:extLst>
              <a:ext uri="{FF2B5EF4-FFF2-40B4-BE49-F238E27FC236}">
                <a16:creationId xmlns:a16="http://schemas.microsoft.com/office/drawing/2014/main" id="{F3B7DA3F-C384-8CC7-AFB8-37E9DDC9E0D0}"/>
              </a:ext>
            </a:extLst>
          </p:cNvPr>
          <p:cNvSpPr txBox="1">
            <a:spLocks noChangeArrowheads="1"/>
          </p:cNvSpPr>
          <p:nvPr/>
        </p:nvSpPr>
        <p:spPr bwMode="auto">
          <a:xfrm>
            <a:off x="32976740" y="27660007"/>
            <a:ext cx="982980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7200">
                <a:solidFill>
                  <a:schemeClr val="tx1"/>
                </a:solidFill>
                <a:latin typeface="Arial" panose="020B0604020202020204" pitchFamily="34" charset="0"/>
              </a:defRPr>
            </a:lvl1pPr>
            <a:lvl2pPr marL="742950" indent="-285750">
              <a:defRPr sz="7200">
                <a:solidFill>
                  <a:schemeClr val="tx1"/>
                </a:solidFill>
                <a:latin typeface="Arial" panose="020B0604020202020204" pitchFamily="34" charset="0"/>
              </a:defRPr>
            </a:lvl2pPr>
            <a:lvl3pPr marL="1143000" indent="-228600">
              <a:defRPr sz="7200">
                <a:solidFill>
                  <a:schemeClr val="tx1"/>
                </a:solidFill>
                <a:latin typeface="Arial" panose="020B0604020202020204" pitchFamily="34" charset="0"/>
              </a:defRPr>
            </a:lvl3pPr>
            <a:lvl4pPr marL="1600200" indent="-228600">
              <a:defRPr sz="7200">
                <a:solidFill>
                  <a:schemeClr val="tx1"/>
                </a:solidFill>
                <a:latin typeface="Arial" panose="020B0604020202020204" pitchFamily="34" charset="0"/>
              </a:defRPr>
            </a:lvl4pPr>
            <a:lvl5pPr marL="2057400" indent="-228600">
              <a:defRPr sz="7200">
                <a:solidFill>
                  <a:schemeClr val="tx1"/>
                </a:solidFill>
                <a:latin typeface="Arial" panose="020B0604020202020204" pitchFamily="34" charset="0"/>
              </a:defRPr>
            </a:lvl5pPr>
            <a:lvl6pPr marL="2514600" indent="-228600" defTabSz="3686175" eaLnBrk="0" fontAlgn="base" hangingPunct="0">
              <a:spcBef>
                <a:spcPct val="0"/>
              </a:spcBef>
              <a:spcAft>
                <a:spcPct val="0"/>
              </a:spcAft>
              <a:defRPr sz="7200">
                <a:solidFill>
                  <a:schemeClr val="tx1"/>
                </a:solidFill>
                <a:latin typeface="Arial" panose="020B0604020202020204" pitchFamily="34" charset="0"/>
              </a:defRPr>
            </a:lvl6pPr>
            <a:lvl7pPr marL="2971800" indent="-228600" defTabSz="3686175" eaLnBrk="0" fontAlgn="base" hangingPunct="0">
              <a:spcBef>
                <a:spcPct val="0"/>
              </a:spcBef>
              <a:spcAft>
                <a:spcPct val="0"/>
              </a:spcAft>
              <a:defRPr sz="7200">
                <a:solidFill>
                  <a:schemeClr val="tx1"/>
                </a:solidFill>
                <a:latin typeface="Arial" panose="020B0604020202020204" pitchFamily="34" charset="0"/>
              </a:defRPr>
            </a:lvl7pPr>
            <a:lvl8pPr marL="3429000" indent="-228600" defTabSz="3686175" eaLnBrk="0" fontAlgn="base" hangingPunct="0">
              <a:spcBef>
                <a:spcPct val="0"/>
              </a:spcBef>
              <a:spcAft>
                <a:spcPct val="0"/>
              </a:spcAft>
              <a:defRPr sz="7200">
                <a:solidFill>
                  <a:schemeClr val="tx1"/>
                </a:solidFill>
                <a:latin typeface="Arial" panose="020B0604020202020204" pitchFamily="34" charset="0"/>
              </a:defRPr>
            </a:lvl8pPr>
            <a:lvl9pPr marL="3886200" indent="-228600" defTabSz="3686175" eaLnBrk="0" fontAlgn="base" hangingPunct="0">
              <a:spcBef>
                <a:spcPct val="0"/>
              </a:spcBef>
              <a:spcAft>
                <a:spcPct val="0"/>
              </a:spcAft>
              <a:defRPr sz="7200">
                <a:solidFill>
                  <a:schemeClr val="tx1"/>
                </a:solidFill>
                <a:latin typeface="Arial" panose="020B0604020202020204" pitchFamily="34" charset="0"/>
              </a:defRPr>
            </a:lvl9pPr>
          </a:lstStyle>
          <a:p>
            <a:pPr eaLnBrk="1" hangingPunct="1">
              <a:spcBef>
                <a:spcPts val="0"/>
              </a:spcBef>
              <a:spcAft>
                <a:spcPts val="0"/>
              </a:spcAft>
            </a:pPr>
            <a:r>
              <a:rPr lang="en-US" altLang="en-US" sz="5000" b="1" dirty="0">
                <a:solidFill>
                  <a:srgbClr val="005BBB"/>
                </a:solidFill>
                <a:cs typeface="Arial" panose="020B0604020202020204" pitchFamily="34" charset="0"/>
              </a:rPr>
              <a:t>References</a:t>
            </a:r>
          </a:p>
        </p:txBody>
      </p:sp>
      <p:cxnSp>
        <p:nvCxnSpPr>
          <p:cNvPr id="15" name="Straight Connector 30">
            <a:extLst>
              <a:ext uri="{FF2B5EF4-FFF2-40B4-BE49-F238E27FC236}">
                <a16:creationId xmlns:a16="http://schemas.microsoft.com/office/drawing/2014/main" id="{32AC41F2-8320-D8B2-62AA-A7DFB1503A1E}"/>
              </a:ext>
            </a:extLst>
          </p:cNvPr>
          <p:cNvCxnSpPr>
            <a:cxnSpLocks noChangeShapeType="1"/>
          </p:cNvCxnSpPr>
          <p:nvPr/>
        </p:nvCxnSpPr>
        <p:spPr bwMode="auto">
          <a:xfrm>
            <a:off x="769648" y="21276706"/>
            <a:ext cx="9783763" cy="0"/>
          </a:xfrm>
          <a:prstGeom prst="line">
            <a:avLst/>
          </a:prstGeom>
          <a:noFill/>
          <a:ln w="2540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17" name="Straight Connector 33">
            <a:extLst>
              <a:ext uri="{FF2B5EF4-FFF2-40B4-BE49-F238E27FC236}">
                <a16:creationId xmlns:a16="http://schemas.microsoft.com/office/drawing/2014/main" id="{1673D2E6-8B48-413C-095E-A138FEC3FF41}"/>
              </a:ext>
            </a:extLst>
          </p:cNvPr>
          <p:cNvCxnSpPr>
            <a:cxnSpLocks noChangeShapeType="1"/>
          </p:cNvCxnSpPr>
          <p:nvPr/>
        </p:nvCxnSpPr>
        <p:spPr bwMode="auto">
          <a:xfrm>
            <a:off x="11628438" y="32056388"/>
            <a:ext cx="9783762" cy="0"/>
          </a:xfrm>
          <a:prstGeom prst="line">
            <a:avLst/>
          </a:prstGeom>
          <a:noFill/>
          <a:ln w="25400" algn="ctr">
            <a:solidFill>
              <a:schemeClr val="tx1"/>
            </a:solidFill>
            <a:prstDash val="dash"/>
            <a:round/>
            <a:headEnd/>
            <a:tailEnd/>
          </a:ln>
          <a:extLst>
            <a:ext uri="{909E8E84-426E-40DD-AFC4-6F175D3DCCD1}">
              <a14:hiddenFill xmlns:a14="http://schemas.microsoft.com/office/drawing/2010/main">
                <a:noFill/>
              </a14:hiddenFill>
            </a:ext>
          </a:extLst>
        </p:spPr>
      </p:cxnSp>
      <p:sp>
        <p:nvSpPr>
          <p:cNvPr id="18" name="TextBox 35">
            <a:extLst>
              <a:ext uri="{FF2B5EF4-FFF2-40B4-BE49-F238E27FC236}">
                <a16:creationId xmlns:a16="http://schemas.microsoft.com/office/drawing/2014/main" id="{6B00B698-13A2-DC5F-C6D0-0EC06960191D}"/>
              </a:ext>
            </a:extLst>
          </p:cNvPr>
          <p:cNvSpPr txBox="1">
            <a:spLocks noChangeArrowheads="1"/>
          </p:cNvSpPr>
          <p:nvPr/>
        </p:nvSpPr>
        <p:spPr bwMode="auto">
          <a:xfrm>
            <a:off x="32982063" y="18909532"/>
            <a:ext cx="979170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7200">
                <a:solidFill>
                  <a:schemeClr val="tx1"/>
                </a:solidFill>
                <a:latin typeface="Arial" panose="020B0604020202020204" pitchFamily="34" charset="0"/>
              </a:defRPr>
            </a:lvl1pPr>
            <a:lvl2pPr marL="742950" indent="-285750">
              <a:defRPr sz="7200">
                <a:solidFill>
                  <a:schemeClr val="tx1"/>
                </a:solidFill>
                <a:latin typeface="Arial" panose="020B0604020202020204" pitchFamily="34" charset="0"/>
              </a:defRPr>
            </a:lvl2pPr>
            <a:lvl3pPr marL="1143000" indent="-228600">
              <a:defRPr sz="7200">
                <a:solidFill>
                  <a:schemeClr val="tx1"/>
                </a:solidFill>
                <a:latin typeface="Arial" panose="020B0604020202020204" pitchFamily="34" charset="0"/>
              </a:defRPr>
            </a:lvl3pPr>
            <a:lvl4pPr marL="1600200" indent="-228600">
              <a:defRPr sz="7200">
                <a:solidFill>
                  <a:schemeClr val="tx1"/>
                </a:solidFill>
                <a:latin typeface="Arial" panose="020B0604020202020204" pitchFamily="34" charset="0"/>
              </a:defRPr>
            </a:lvl4pPr>
            <a:lvl5pPr marL="2057400" indent="-228600">
              <a:defRPr sz="7200">
                <a:solidFill>
                  <a:schemeClr val="tx1"/>
                </a:solidFill>
                <a:latin typeface="Arial" panose="020B0604020202020204" pitchFamily="34" charset="0"/>
              </a:defRPr>
            </a:lvl5pPr>
            <a:lvl6pPr marL="2514600" indent="-228600" defTabSz="3686175" eaLnBrk="0" fontAlgn="base" hangingPunct="0">
              <a:spcBef>
                <a:spcPct val="0"/>
              </a:spcBef>
              <a:spcAft>
                <a:spcPct val="0"/>
              </a:spcAft>
              <a:defRPr sz="7200">
                <a:solidFill>
                  <a:schemeClr val="tx1"/>
                </a:solidFill>
                <a:latin typeface="Arial" panose="020B0604020202020204" pitchFamily="34" charset="0"/>
              </a:defRPr>
            </a:lvl6pPr>
            <a:lvl7pPr marL="2971800" indent="-228600" defTabSz="3686175" eaLnBrk="0" fontAlgn="base" hangingPunct="0">
              <a:spcBef>
                <a:spcPct val="0"/>
              </a:spcBef>
              <a:spcAft>
                <a:spcPct val="0"/>
              </a:spcAft>
              <a:defRPr sz="7200">
                <a:solidFill>
                  <a:schemeClr val="tx1"/>
                </a:solidFill>
                <a:latin typeface="Arial" panose="020B0604020202020204" pitchFamily="34" charset="0"/>
              </a:defRPr>
            </a:lvl7pPr>
            <a:lvl8pPr marL="3429000" indent="-228600" defTabSz="3686175" eaLnBrk="0" fontAlgn="base" hangingPunct="0">
              <a:spcBef>
                <a:spcPct val="0"/>
              </a:spcBef>
              <a:spcAft>
                <a:spcPct val="0"/>
              </a:spcAft>
              <a:defRPr sz="7200">
                <a:solidFill>
                  <a:schemeClr val="tx1"/>
                </a:solidFill>
                <a:latin typeface="Arial" panose="020B0604020202020204" pitchFamily="34" charset="0"/>
              </a:defRPr>
            </a:lvl8pPr>
            <a:lvl9pPr marL="3886200" indent="-228600" defTabSz="3686175" eaLnBrk="0" fontAlgn="base" hangingPunct="0">
              <a:spcBef>
                <a:spcPct val="0"/>
              </a:spcBef>
              <a:spcAft>
                <a:spcPct val="0"/>
              </a:spcAft>
              <a:defRPr sz="7200">
                <a:solidFill>
                  <a:schemeClr val="tx1"/>
                </a:solidFill>
                <a:latin typeface="Arial" panose="020B0604020202020204" pitchFamily="34" charset="0"/>
              </a:defRPr>
            </a:lvl9pPr>
          </a:lstStyle>
          <a:p>
            <a:pPr eaLnBrk="1" hangingPunct="1">
              <a:spcBef>
                <a:spcPts val="0"/>
              </a:spcBef>
              <a:spcAft>
                <a:spcPts val="0"/>
              </a:spcAft>
            </a:pPr>
            <a:r>
              <a:rPr lang="en-US" altLang="en-US" sz="5000" b="1" dirty="0">
                <a:solidFill>
                  <a:srgbClr val="005BBB"/>
                </a:solidFill>
                <a:cs typeface="Arial" panose="020B0604020202020204" pitchFamily="34" charset="0"/>
              </a:rPr>
              <a:t>Graphic Elements</a:t>
            </a:r>
          </a:p>
        </p:txBody>
      </p:sp>
      <p:sp>
        <p:nvSpPr>
          <p:cNvPr id="19" name="TextBox 36">
            <a:extLst>
              <a:ext uri="{FF2B5EF4-FFF2-40B4-BE49-F238E27FC236}">
                <a16:creationId xmlns:a16="http://schemas.microsoft.com/office/drawing/2014/main" id="{EB7FDB9E-8D98-A0B2-E318-632D5A188EFD}"/>
              </a:ext>
            </a:extLst>
          </p:cNvPr>
          <p:cNvSpPr txBox="1">
            <a:spLocks noChangeArrowheads="1"/>
          </p:cNvSpPr>
          <p:nvPr/>
        </p:nvSpPr>
        <p:spPr bwMode="auto">
          <a:xfrm>
            <a:off x="22368361" y="6633150"/>
            <a:ext cx="9712371" cy="17522746"/>
          </a:xfrm>
          <a:prstGeom prst="rect">
            <a:avLst/>
          </a:prstGeom>
          <a:solidFill>
            <a:schemeClr val="bg1">
              <a:alpha val="6313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7200">
                <a:solidFill>
                  <a:schemeClr val="tx1"/>
                </a:solidFill>
                <a:latin typeface="Arial" panose="020B0604020202020204" pitchFamily="34" charset="0"/>
              </a:defRPr>
            </a:lvl1pPr>
            <a:lvl2pPr marL="742950" indent="-285750">
              <a:defRPr sz="7200">
                <a:solidFill>
                  <a:schemeClr val="tx1"/>
                </a:solidFill>
                <a:latin typeface="Arial" panose="020B0604020202020204" pitchFamily="34" charset="0"/>
              </a:defRPr>
            </a:lvl2pPr>
            <a:lvl3pPr marL="1143000" indent="-228600">
              <a:defRPr sz="7200">
                <a:solidFill>
                  <a:schemeClr val="tx1"/>
                </a:solidFill>
                <a:latin typeface="Arial" panose="020B0604020202020204" pitchFamily="34" charset="0"/>
              </a:defRPr>
            </a:lvl3pPr>
            <a:lvl4pPr marL="1600200" indent="-228600">
              <a:defRPr sz="7200">
                <a:solidFill>
                  <a:schemeClr val="tx1"/>
                </a:solidFill>
                <a:latin typeface="Arial" panose="020B0604020202020204" pitchFamily="34" charset="0"/>
              </a:defRPr>
            </a:lvl4pPr>
            <a:lvl5pPr marL="2057400" indent="-228600">
              <a:defRPr sz="7200">
                <a:solidFill>
                  <a:schemeClr val="tx1"/>
                </a:solidFill>
                <a:latin typeface="Arial" panose="020B0604020202020204" pitchFamily="34" charset="0"/>
              </a:defRPr>
            </a:lvl5pPr>
            <a:lvl6pPr marL="2514600" indent="-228600" defTabSz="3686175" eaLnBrk="0" fontAlgn="base" hangingPunct="0">
              <a:spcBef>
                <a:spcPct val="0"/>
              </a:spcBef>
              <a:spcAft>
                <a:spcPct val="0"/>
              </a:spcAft>
              <a:defRPr sz="7200">
                <a:solidFill>
                  <a:schemeClr val="tx1"/>
                </a:solidFill>
                <a:latin typeface="Arial" panose="020B0604020202020204" pitchFamily="34" charset="0"/>
              </a:defRPr>
            </a:lvl6pPr>
            <a:lvl7pPr marL="2971800" indent="-228600" defTabSz="3686175" eaLnBrk="0" fontAlgn="base" hangingPunct="0">
              <a:spcBef>
                <a:spcPct val="0"/>
              </a:spcBef>
              <a:spcAft>
                <a:spcPct val="0"/>
              </a:spcAft>
              <a:defRPr sz="7200">
                <a:solidFill>
                  <a:schemeClr val="tx1"/>
                </a:solidFill>
                <a:latin typeface="Arial" panose="020B0604020202020204" pitchFamily="34" charset="0"/>
              </a:defRPr>
            </a:lvl7pPr>
            <a:lvl8pPr marL="3429000" indent="-228600" defTabSz="3686175" eaLnBrk="0" fontAlgn="base" hangingPunct="0">
              <a:spcBef>
                <a:spcPct val="0"/>
              </a:spcBef>
              <a:spcAft>
                <a:spcPct val="0"/>
              </a:spcAft>
              <a:defRPr sz="7200">
                <a:solidFill>
                  <a:schemeClr val="tx1"/>
                </a:solidFill>
                <a:latin typeface="Arial" panose="020B0604020202020204" pitchFamily="34" charset="0"/>
              </a:defRPr>
            </a:lvl8pPr>
            <a:lvl9pPr marL="3886200" indent="-228600" defTabSz="3686175" eaLnBrk="0" fontAlgn="base" hangingPunct="0">
              <a:spcBef>
                <a:spcPct val="0"/>
              </a:spcBef>
              <a:spcAft>
                <a:spcPct val="0"/>
              </a:spcAft>
              <a:defRPr sz="7200">
                <a:solidFill>
                  <a:schemeClr val="tx1"/>
                </a:solidFill>
                <a:latin typeface="Arial" panose="020B0604020202020204" pitchFamily="34" charset="0"/>
              </a:defRPr>
            </a:lvl9pPr>
          </a:lstStyle>
          <a:p>
            <a:pPr eaLnBrk="1" hangingPunct="1">
              <a:lnSpc>
                <a:spcPts val="4600"/>
              </a:lnSpc>
              <a:spcBef>
                <a:spcPts val="0"/>
              </a:spcBef>
              <a:spcAft>
                <a:spcPts val="0"/>
              </a:spcAft>
            </a:pPr>
            <a:r>
              <a:rPr lang="en-US" sz="3200" b="1" dirty="0">
                <a:solidFill>
                  <a:schemeClr val="tx2"/>
                </a:solidFill>
                <a:cs typeface="Arial" panose="020B0604020202020204" pitchFamily="34" charset="0"/>
              </a:rPr>
              <a:t>Patient Demographics</a:t>
            </a:r>
          </a:p>
          <a:p>
            <a:pPr marL="342900" indent="-342900">
              <a:spcBef>
                <a:spcPts val="0"/>
              </a:spcBef>
              <a:spcAft>
                <a:spcPts val="0"/>
              </a:spcAft>
              <a:buFont typeface="Arial" panose="020B0604020202020204" pitchFamily="34" charset="0"/>
              <a:buChar char="•"/>
            </a:pPr>
            <a:r>
              <a:rPr lang="en-US" sz="3200" dirty="0">
                <a:cs typeface="Arial" panose="020B0604020202020204" pitchFamily="34" charset="0"/>
              </a:rPr>
              <a:t>Total sample: 300 patients, 183 African American (61.0%) reflecting safety-net hospital demographics</a:t>
            </a:r>
          </a:p>
          <a:p>
            <a:pPr marL="342900" indent="-342900">
              <a:spcBef>
                <a:spcPts val="0"/>
              </a:spcBef>
              <a:spcAft>
                <a:spcPts val="0"/>
              </a:spcAft>
              <a:buFont typeface="Arial" panose="020B0604020202020204" pitchFamily="34" charset="0"/>
              <a:buChar char="•"/>
            </a:pPr>
            <a:r>
              <a:rPr lang="en-US" sz="3200" dirty="0">
                <a:cs typeface="Arial" panose="020B0604020202020204" pitchFamily="34" charset="0"/>
              </a:rPr>
              <a:t>High-risk population: 137 current smokers (45.7%), 104 former smokers (34.7%)</a:t>
            </a:r>
          </a:p>
          <a:p>
            <a:pPr marL="342900" indent="-342900">
              <a:spcBef>
                <a:spcPts val="0"/>
              </a:spcBef>
              <a:spcAft>
                <a:spcPts val="0"/>
              </a:spcAft>
              <a:buFont typeface="Arial" panose="020B0604020202020204" pitchFamily="34" charset="0"/>
              <a:buChar char="•"/>
            </a:pPr>
            <a:r>
              <a:rPr lang="en-US" sz="3200" dirty="0">
                <a:cs typeface="Arial" panose="020B0604020202020204" pitchFamily="34" charset="0"/>
              </a:rPr>
              <a:t>Socioeconomic disparities: 111 low income (37.0%), 30 uninsured (10.0%)</a:t>
            </a:r>
          </a:p>
          <a:p>
            <a:pPr>
              <a:spcBef>
                <a:spcPts val="0"/>
              </a:spcBef>
              <a:spcAft>
                <a:spcPts val="0"/>
              </a:spcAft>
            </a:pPr>
            <a:endParaRPr lang="en-US" sz="3200" dirty="0">
              <a:cs typeface="Arial" panose="020B0604020202020204" pitchFamily="34" charset="0"/>
            </a:endParaRPr>
          </a:p>
          <a:p>
            <a:pPr eaLnBrk="1" hangingPunct="1">
              <a:lnSpc>
                <a:spcPts val="4600"/>
              </a:lnSpc>
              <a:spcBef>
                <a:spcPts val="0"/>
              </a:spcBef>
              <a:spcAft>
                <a:spcPts val="0"/>
              </a:spcAft>
            </a:pPr>
            <a:r>
              <a:rPr lang="en-US" sz="3200" b="1" dirty="0">
                <a:solidFill>
                  <a:schemeClr val="tx2"/>
                </a:solidFill>
                <a:cs typeface="Arial" panose="020B0604020202020204" pitchFamily="34" charset="0"/>
              </a:rPr>
              <a:t>Histological Distribution (Hypothesis Refuted)</a:t>
            </a:r>
          </a:p>
          <a:p>
            <a:pPr marL="342900" indent="-342900">
              <a:spcBef>
                <a:spcPts val="0"/>
              </a:spcBef>
              <a:spcAft>
                <a:spcPts val="0"/>
              </a:spcAft>
              <a:buFont typeface="Arial" panose="020B0604020202020204" pitchFamily="34" charset="0"/>
              <a:buChar char="•"/>
            </a:pPr>
            <a:r>
              <a:rPr lang="en-US" sz="3200" dirty="0">
                <a:cs typeface="Arial" panose="020B0604020202020204" pitchFamily="34" charset="0"/>
              </a:rPr>
              <a:t>SCLC distribution: African American 36/183 (19.7%), White 15/58 (25.9%)</a:t>
            </a:r>
          </a:p>
          <a:p>
            <a:pPr marL="342900" indent="-342900">
              <a:spcBef>
                <a:spcPts val="0"/>
              </a:spcBef>
              <a:spcAft>
                <a:spcPts val="0"/>
              </a:spcAft>
              <a:buFont typeface="Arial" panose="020B0604020202020204" pitchFamily="34" charset="0"/>
              <a:buChar char="•"/>
            </a:pPr>
            <a:r>
              <a:rPr lang="en-US" sz="3200" dirty="0">
                <a:cs typeface="Arial" panose="020B0604020202020204" pitchFamily="34" charset="0"/>
              </a:rPr>
              <a:t>Overall SCLC: 60/300 (20.0%) - within expected 15-20% range</a:t>
            </a:r>
          </a:p>
          <a:p>
            <a:pPr marL="342900" indent="-342900">
              <a:spcBef>
                <a:spcPts val="0"/>
              </a:spcBef>
              <a:spcAft>
                <a:spcPts val="0"/>
              </a:spcAft>
              <a:buFont typeface="Arial" panose="020B0604020202020204" pitchFamily="34" charset="0"/>
              <a:buChar char="•"/>
            </a:pPr>
            <a:r>
              <a:rPr lang="en-US" sz="3200" dirty="0">
                <a:cs typeface="Arial" panose="020B0604020202020204" pitchFamily="34" charset="0"/>
              </a:rPr>
              <a:t>Statistical analysis: No significant racial difference (</a:t>
            </a:r>
            <a:r>
              <a:rPr lang="el-GR" sz="3200" dirty="0">
                <a:cs typeface="Arial" panose="020B0604020202020204" pitchFamily="34" charset="0"/>
              </a:rPr>
              <a:t>χ² = 4.76, </a:t>
            </a:r>
            <a:r>
              <a:rPr lang="en-US" sz="3200" dirty="0">
                <a:cs typeface="Arial" panose="020B0604020202020204" pitchFamily="34" charset="0"/>
              </a:rPr>
              <a:t>p = 0.55)</a:t>
            </a:r>
          </a:p>
          <a:p>
            <a:pPr marL="342900" indent="-342900">
              <a:spcBef>
                <a:spcPts val="0"/>
              </a:spcBef>
              <a:spcAft>
                <a:spcPts val="0"/>
              </a:spcAft>
              <a:buFont typeface="Arial" panose="020B0604020202020204" pitchFamily="34" charset="0"/>
              <a:buChar char="•"/>
            </a:pPr>
            <a:r>
              <a:rPr lang="en-US" sz="3200" dirty="0">
                <a:cs typeface="Arial" panose="020B0604020202020204" pitchFamily="34" charset="0"/>
              </a:rPr>
              <a:t>Key finding: African Americans did NOT have higher aggressive SCLC rates</a:t>
            </a:r>
          </a:p>
          <a:p>
            <a:pPr>
              <a:spcBef>
                <a:spcPts val="0"/>
              </a:spcBef>
              <a:spcAft>
                <a:spcPts val="0"/>
              </a:spcAft>
            </a:pPr>
            <a:endParaRPr lang="en-US" sz="3200" b="1" dirty="0">
              <a:solidFill>
                <a:schemeClr val="tx2"/>
              </a:solidFill>
              <a:cs typeface="Arial" panose="020B0604020202020204" pitchFamily="34" charset="0"/>
            </a:endParaRPr>
          </a:p>
          <a:p>
            <a:pPr>
              <a:spcBef>
                <a:spcPts val="0"/>
              </a:spcBef>
              <a:spcAft>
                <a:spcPts val="0"/>
              </a:spcAft>
            </a:pPr>
            <a:r>
              <a:rPr lang="en-US" sz="3200" b="1" dirty="0">
                <a:solidFill>
                  <a:schemeClr val="tx2"/>
                </a:solidFill>
                <a:cs typeface="Arial" panose="020B0604020202020204" pitchFamily="34" charset="0"/>
              </a:rPr>
              <a:t>Stage Disparities (Primary Finding)</a:t>
            </a:r>
          </a:p>
          <a:p>
            <a:pPr marL="342900" indent="-342900">
              <a:spcBef>
                <a:spcPts val="0"/>
              </a:spcBef>
              <a:spcAft>
                <a:spcPts val="0"/>
              </a:spcAft>
              <a:buFont typeface="Arial" panose="020B0604020202020204" pitchFamily="34" charset="0"/>
              <a:buChar char="•"/>
            </a:pPr>
            <a:r>
              <a:rPr lang="en-US" sz="3200" dirty="0">
                <a:cs typeface="Arial" panose="020B0604020202020204" pitchFamily="34" charset="0"/>
              </a:rPr>
              <a:t>Advanced disease (Stage III+IV): 207/300 (69.0%) overall</a:t>
            </a:r>
          </a:p>
          <a:p>
            <a:pPr marL="342900" indent="-342900">
              <a:spcBef>
                <a:spcPts val="0"/>
              </a:spcBef>
              <a:spcAft>
                <a:spcPts val="0"/>
              </a:spcAft>
              <a:buFont typeface="Arial" panose="020B0604020202020204" pitchFamily="34" charset="0"/>
              <a:buChar char="•"/>
            </a:pPr>
            <a:r>
              <a:rPr lang="en-US" sz="3200" dirty="0">
                <a:cs typeface="Arial" panose="020B0604020202020204" pitchFamily="34" charset="0"/>
              </a:rPr>
              <a:t>Racial disparity: African American 135/183 (73.8%) vs White 33/58 (56.9%)</a:t>
            </a:r>
          </a:p>
          <a:p>
            <a:pPr marL="342900" indent="-342900">
              <a:spcBef>
                <a:spcPts val="0"/>
              </a:spcBef>
              <a:spcAft>
                <a:spcPts val="0"/>
              </a:spcAft>
              <a:buFont typeface="Arial" panose="020B0604020202020204" pitchFamily="34" charset="0"/>
              <a:buChar char="•"/>
            </a:pPr>
            <a:r>
              <a:rPr lang="en-US" sz="3200" dirty="0">
                <a:cs typeface="Arial" panose="020B0604020202020204" pitchFamily="34" charset="0"/>
              </a:rPr>
              <a:t>Stage IV most common: 123/300 (41.0%) - late presentation pattern</a:t>
            </a:r>
          </a:p>
          <a:p>
            <a:pPr marL="342900" indent="-342900">
              <a:spcBef>
                <a:spcPts val="0"/>
              </a:spcBef>
              <a:spcAft>
                <a:spcPts val="0"/>
              </a:spcAft>
              <a:buFont typeface="Arial" panose="020B0604020202020204" pitchFamily="34" charset="0"/>
              <a:buChar char="•"/>
            </a:pPr>
            <a:r>
              <a:rPr lang="en-US" sz="3200" dirty="0">
                <a:cs typeface="Arial" panose="020B0604020202020204" pitchFamily="34" charset="0"/>
              </a:rPr>
              <a:t>Multivariable analysis: African American race OR 2.13 (95% CI 1.15-3.94, p = 0.015)</a:t>
            </a:r>
          </a:p>
          <a:p>
            <a:pPr marL="342900" indent="-342900">
              <a:spcBef>
                <a:spcPts val="0"/>
              </a:spcBef>
              <a:spcAft>
                <a:spcPts val="0"/>
              </a:spcAft>
              <a:buFont typeface="Arial" panose="020B0604020202020204" pitchFamily="34" charset="0"/>
              <a:buChar char="•"/>
            </a:pPr>
            <a:r>
              <a:rPr lang="en-US" sz="3200" dirty="0">
                <a:cs typeface="Arial" panose="020B0604020202020204" pitchFamily="34" charset="0"/>
              </a:rPr>
              <a:t>Treatment Access (Positive Finding)</a:t>
            </a:r>
          </a:p>
          <a:p>
            <a:pPr marL="342900" indent="-342900">
              <a:spcBef>
                <a:spcPts val="0"/>
              </a:spcBef>
              <a:spcAft>
                <a:spcPts val="0"/>
              </a:spcAft>
              <a:buFont typeface="Arial" panose="020B0604020202020204" pitchFamily="34" charset="0"/>
              <a:buChar char="•"/>
            </a:pPr>
            <a:r>
              <a:rPr lang="en-US" sz="3200" dirty="0">
                <a:cs typeface="Arial" panose="020B0604020202020204" pitchFamily="34" charset="0"/>
              </a:rPr>
              <a:t>High treatment rate: 273/300 (91.0%) received treatment</a:t>
            </a:r>
          </a:p>
          <a:p>
            <a:pPr marL="342900" indent="-342900">
              <a:spcBef>
                <a:spcPts val="0"/>
              </a:spcBef>
              <a:spcAft>
                <a:spcPts val="0"/>
              </a:spcAft>
              <a:buFont typeface="Arial" panose="020B0604020202020204" pitchFamily="34" charset="0"/>
              <a:buChar char="•"/>
            </a:pPr>
            <a:r>
              <a:rPr lang="en-US" sz="3200" dirty="0">
                <a:cs typeface="Arial" panose="020B0604020202020204" pitchFamily="34" charset="0"/>
              </a:rPr>
              <a:t>No racial disparities: African American 166/183 (90.7%), White 54/58 (93.1%)</a:t>
            </a:r>
          </a:p>
          <a:p>
            <a:pPr marL="342900" indent="-342900">
              <a:spcBef>
                <a:spcPts val="0"/>
              </a:spcBef>
              <a:spcAft>
                <a:spcPts val="0"/>
              </a:spcAft>
              <a:buFont typeface="Arial" panose="020B0604020202020204" pitchFamily="34" charset="0"/>
              <a:buChar char="•"/>
            </a:pPr>
            <a:r>
              <a:rPr lang="en-US" sz="3200" dirty="0">
                <a:cs typeface="Arial" panose="020B0604020202020204" pitchFamily="34" charset="0"/>
              </a:rPr>
              <a:t>Statistical analysis: No significant difference (p = 0.57)</a:t>
            </a:r>
          </a:p>
        </p:txBody>
      </p:sp>
      <p:cxnSp>
        <p:nvCxnSpPr>
          <p:cNvPr id="20" name="Straight Connector 37">
            <a:extLst>
              <a:ext uri="{FF2B5EF4-FFF2-40B4-BE49-F238E27FC236}">
                <a16:creationId xmlns:a16="http://schemas.microsoft.com/office/drawing/2014/main" id="{F42BCE95-918C-2D8F-4F10-1EC36DE511FA}"/>
              </a:ext>
            </a:extLst>
          </p:cNvPr>
          <p:cNvCxnSpPr>
            <a:cxnSpLocks noChangeShapeType="1"/>
          </p:cNvCxnSpPr>
          <p:nvPr/>
        </p:nvCxnSpPr>
        <p:spPr bwMode="auto">
          <a:xfrm>
            <a:off x="33146999" y="27458126"/>
            <a:ext cx="9783763" cy="0"/>
          </a:xfrm>
          <a:prstGeom prst="line">
            <a:avLst/>
          </a:prstGeom>
          <a:noFill/>
          <a:ln w="2540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21" name="Straight Connector 38">
            <a:extLst>
              <a:ext uri="{FF2B5EF4-FFF2-40B4-BE49-F238E27FC236}">
                <a16:creationId xmlns:a16="http://schemas.microsoft.com/office/drawing/2014/main" id="{7E4CB979-B726-5028-C520-9CE646B3172B}"/>
              </a:ext>
            </a:extLst>
          </p:cNvPr>
          <p:cNvCxnSpPr>
            <a:cxnSpLocks noChangeShapeType="1"/>
          </p:cNvCxnSpPr>
          <p:nvPr/>
        </p:nvCxnSpPr>
        <p:spPr bwMode="auto">
          <a:xfrm>
            <a:off x="33127406" y="30117633"/>
            <a:ext cx="9783763" cy="0"/>
          </a:xfrm>
          <a:prstGeom prst="line">
            <a:avLst/>
          </a:prstGeom>
          <a:noFill/>
          <a:ln w="25400" algn="ctr">
            <a:solidFill>
              <a:schemeClr val="tx1"/>
            </a:solidFill>
            <a:prstDash val="dash"/>
            <a:round/>
            <a:headEnd/>
            <a:tailEnd/>
          </a:ln>
          <a:extLst>
            <a:ext uri="{909E8E84-426E-40DD-AFC4-6F175D3DCCD1}">
              <a14:hiddenFill xmlns:a14="http://schemas.microsoft.com/office/drawing/2010/main">
                <a:noFill/>
              </a14:hiddenFill>
            </a:ext>
          </a:extLst>
        </p:spPr>
      </p:cxnSp>
      <p:sp>
        <p:nvSpPr>
          <p:cNvPr id="22" name="TextBox 39">
            <a:extLst>
              <a:ext uri="{FF2B5EF4-FFF2-40B4-BE49-F238E27FC236}">
                <a16:creationId xmlns:a16="http://schemas.microsoft.com/office/drawing/2014/main" id="{6044E1A2-8D50-1B64-1E52-00D34726DB14}"/>
              </a:ext>
            </a:extLst>
          </p:cNvPr>
          <p:cNvSpPr txBox="1">
            <a:spLocks noChangeArrowheads="1"/>
          </p:cNvSpPr>
          <p:nvPr/>
        </p:nvSpPr>
        <p:spPr bwMode="auto">
          <a:xfrm>
            <a:off x="32910409" y="12349313"/>
            <a:ext cx="9942513" cy="6278642"/>
          </a:xfrm>
          <a:prstGeom prst="rect">
            <a:avLst/>
          </a:prstGeom>
          <a:solidFill>
            <a:schemeClr val="bg1">
              <a:alpha val="6313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7200">
                <a:solidFill>
                  <a:schemeClr val="tx1"/>
                </a:solidFill>
                <a:latin typeface="Arial" panose="020B0604020202020204" pitchFamily="34" charset="0"/>
              </a:defRPr>
            </a:lvl1pPr>
            <a:lvl2pPr marL="914400" indent="-457200">
              <a:defRPr sz="7200">
                <a:solidFill>
                  <a:schemeClr val="tx1"/>
                </a:solidFill>
                <a:latin typeface="Arial" panose="020B0604020202020204" pitchFamily="34" charset="0"/>
              </a:defRPr>
            </a:lvl2pPr>
            <a:lvl3pPr marL="1143000" indent="-228600">
              <a:defRPr sz="7200">
                <a:solidFill>
                  <a:schemeClr val="tx1"/>
                </a:solidFill>
                <a:latin typeface="Arial" panose="020B0604020202020204" pitchFamily="34" charset="0"/>
              </a:defRPr>
            </a:lvl3pPr>
            <a:lvl4pPr marL="1600200" indent="-228600">
              <a:defRPr sz="7200">
                <a:solidFill>
                  <a:schemeClr val="tx1"/>
                </a:solidFill>
                <a:latin typeface="Arial" panose="020B0604020202020204" pitchFamily="34" charset="0"/>
              </a:defRPr>
            </a:lvl4pPr>
            <a:lvl5pPr marL="2057400" indent="-228600">
              <a:defRPr sz="7200">
                <a:solidFill>
                  <a:schemeClr val="tx1"/>
                </a:solidFill>
                <a:latin typeface="Arial" panose="020B0604020202020204" pitchFamily="34" charset="0"/>
              </a:defRPr>
            </a:lvl5pPr>
            <a:lvl6pPr marL="2514600" indent="-228600" defTabSz="3686175" eaLnBrk="0" fontAlgn="base" hangingPunct="0">
              <a:spcBef>
                <a:spcPct val="0"/>
              </a:spcBef>
              <a:spcAft>
                <a:spcPct val="0"/>
              </a:spcAft>
              <a:defRPr sz="7200">
                <a:solidFill>
                  <a:schemeClr val="tx1"/>
                </a:solidFill>
                <a:latin typeface="Arial" panose="020B0604020202020204" pitchFamily="34" charset="0"/>
              </a:defRPr>
            </a:lvl6pPr>
            <a:lvl7pPr marL="2971800" indent="-228600" defTabSz="3686175" eaLnBrk="0" fontAlgn="base" hangingPunct="0">
              <a:spcBef>
                <a:spcPct val="0"/>
              </a:spcBef>
              <a:spcAft>
                <a:spcPct val="0"/>
              </a:spcAft>
              <a:defRPr sz="7200">
                <a:solidFill>
                  <a:schemeClr val="tx1"/>
                </a:solidFill>
                <a:latin typeface="Arial" panose="020B0604020202020204" pitchFamily="34" charset="0"/>
              </a:defRPr>
            </a:lvl7pPr>
            <a:lvl8pPr marL="3429000" indent="-228600" defTabSz="3686175" eaLnBrk="0" fontAlgn="base" hangingPunct="0">
              <a:spcBef>
                <a:spcPct val="0"/>
              </a:spcBef>
              <a:spcAft>
                <a:spcPct val="0"/>
              </a:spcAft>
              <a:defRPr sz="7200">
                <a:solidFill>
                  <a:schemeClr val="tx1"/>
                </a:solidFill>
                <a:latin typeface="Arial" panose="020B0604020202020204" pitchFamily="34" charset="0"/>
              </a:defRPr>
            </a:lvl8pPr>
            <a:lvl9pPr marL="3886200" indent="-228600" defTabSz="3686175" eaLnBrk="0" fontAlgn="base" hangingPunct="0">
              <a:spcBef>
                <a:spcPct val="0"/>
              </a:spcBef>
              <a:spcAft>
                <a:spcPct val="0"/>
              </a:spcAft>
              <a:defRPr sz="7200">
                <a:solidFill>
                  <a:schemeClr val="tx1"/>
                </a:solidFill>
                <a:latin typeface="Arial" panose="020B0604020202020204" pitchFamily="34" charset="0"/>
              </a:defRPr>
            </a:lvl9pPr>
          </a:lstStyle>
          <a:p>
            <a:pPr algn="just">
              <a:spcBef>
                <a:spcPts val="0"/>
              </a:spcBef>
              <a:spcAft>
                <a:spcPts val="0"/>
              </a:spcAft>
            </a:pPr>
            <a:r>
              <a:rPr lang="en-US" sz="5000" b="1" dirty="0">
                <a:solidFill>
                  <a:srgbClr val="005BBB"/>
                </a:solidFill>
                <a:cs typeface="Arial" panose="020B0604020202020204" pitchFamily="34" charset="0"/>
              </a:rPr>
              <a:t>Clinical Implications</a:t>
            </a:r>
          </a:p>
          <a:p>
            <a:pPr marL="342900" indent="-342900" algn="just">
              <a:spcBef>
                <a:spcPts val="0"/>
              </a:spcBef>
              <a:spcAft>
                <a:spcPts val="0"/>
              </a:spcAft>
              <a:buFont typeface="Arial" panose="020B0604020202020204" pitchFamily="34" charset="0"/>
              <a:buChar char="•"/>
            </a:pPr>
            <a:r>
              <a:rPr lang="en-US" sz="3200" b="1" dirty="0">
                <a:cs typeface="Arial" panose="020B0604020202020204" pitchFamily="34" charset="0"/>
              </a:rPr>
              <a:t>Focus on early detection</a:t>
            </a:r>
            <a:r>
              <a:rPr lang="en-US" sz="3200" dirty="0">
                <a:cs typeface="Arial" panose="020B0604020202020204" pitchFamily="34" charset="0"/>
              </a:rPr>
              <a:t>: Public health strategies should expand lung cancer screening programs rather than develop race-specific treatment protocols.</a:t>
            </a:r>
          </a:p>
          <a:p>
            <a:pPr marL="342900" indent="-342900" algn="just">
              <a:spcBef>
                <a:spcPts val="0"/>
              </a:spcBef>
              <a:spcAft>
                <a:spcPts val="0"/>
              </a:spcAft>
              <a:buFont typeface="Arial" panose="020B0604020202020204" pitchFamily="34" charset="0"/>
              <a:buChar char="•"/>
            </a:pPr>
            <a:r>
              <a:rPr lang="en-US" sz="3200" b="1" dirty="0">
                <a:cs typeface="Arial" panose="020B0604020202020204" pitchFamily="34" charset="0"/>
              </a:rPr>
              <a:t>Address structural barriers</a:t>
            </a:r>
            <a:r>
              <a:rPr lang="en-US" sz="3200" dirty="0">
                <a:cs typeface="Arial" panose="020B0604020202020204" pitchFamily="34" charset="0"/>
              </a:rPr>
              <a:t>: Effort to reduce disparity should focus on eliminating systemic obstacles to timely diagnosis, rather than attributing differences to presume biological variation. </a:t>
            </a:r>
          </a:p>
          <a:p>
            <a:pPr marL="342900" indent="-342900" algn="just">
              <a:spcBef>
                <a:spcPts val="0"/>
              </a:spcBef>
              <a:spcAft>
                <a:spcPts val="0"/>
              </a:spcAft>
              <a:buFont typeface="Arial" panose="020B0604020202020204" pitchFamily="34" charset="0"/>
              <a:buChar char="•"/>
            </a:pPr>
            <a:r>
              <a:rPr lang="en-US" sz="3200" b="1" dirty="0">
                <a:cs typeface="Arial" panose="020B0604020202020204" pitchFamily="34" charset="0"/>
              </a:rPr>
              <a:t>Safety-net model</a:t>
            </a:r>
            <a:r>
              <a:rPr lang="en-US" sz="3200" dirty="0">
                <a:cs typeface="Arial" panose="020B0604020202020204" pitchFamily="34" charset="0"/>
              </a:rPr>
              <a:t>: Findings highly that equitable cancer care delivery is achievable within safety-net systems when institutional barrier are minimized.</a:t>
            </a:r>
            <a:endParaRPr lang="en-US" altLang="en-US" sz="3200" dirty="0">
              <a:cs typeface="Arial" panose="020B0604020202020204" pitchFamily="34" charset="0"/>
            </a:endParaRPr>
          </a:p>
        </p:txBody>
      </p:sp>
      <p:cxnSp>
        <p:nvCxnSpPr>
          <p:cNvPr id="23" name="Straight Connector 40">
            <a:extLst>
              <a:ext uri="{FF2B5EF4-FFF2-40B4-BE49-F238E27FC236}">
                <a16:creationId xmlns:a16="http://schemas.microsoft.com/office/drawing/2014/main" id="{1BDE722E-BE0C-C9B3-290D-2E2CBCFC98B0}"/>
              </a:ext>
            </a:extLst>
          </p:cNvPr>
          <p:cNvCxnSpPr>
            <a:cxnSpLocks noChangeShapeType="1"/>
          </p:cNvCxnSpPr>
          <p:nvPr/>
        </p:nvCxnSpPr>
        <p:spPr bwMode="auto">
          <a:xfrm>
            <a:off x="32998965" y="18734608"/>
            <a:ext cx="9785350" cy="0"/>
          </a:xfrm>
          <a:prstGeom prst="line">
            <a:avLst/>
          </a:prstGeom>
          <a:noFill/>
          <a:ln w="25400" algn="ctr">
            <a:solidFill>
              <a:schemeClr val="tx1"/>
            </a:solidFill>
            <a:prstDash val="dash"/>
            <a:round/>
            <a:headEnd/>
            <a:tailEnd/>
          </a:ln>
          <a:extLst>
            <a:ext uri="{909E8E84-426E-40DD-AFC4-6F175D3DCCD1}">
              <a14:hiddenFill xmlns:a14="http://schemas.microsoft.com/office/drawing/2010/main">
                <a:noFill/>
              </a14:hiddenFill>
            </a:ext>
          </a:extLst>
        </p:spPr>
      </p:cxnSp>
      <p:sp>
        <p:nvSpPr>
          <p:cNvPr id="24" name="TextBox 44">
            <a:extLst>
              <a:ext uri="{FF2B5EF4-FFF2-40B4-BE49-F238E27FC236}">
                <a16:creationId xmlns:a16="http://schemas.microsoft.com/office/drawing/2014/main" id="{778916EF-A5E0-53BB-FB3E-A7716403D6DD}"/>
              </a:ext>
            </a:extLst>
          </p:cNvPr>
          <p:cNvSpPr txBox="1">
            <a:spLocks noChangeArrowheads="1"/>
          </p:cNvSpPr>
          <p:nvPr/>
        </p:nvSpPr>
        <p:spPr bwMode="auto">
          <a:xfrm>
            <a:off x="11605419" y="18909532"/>
            <a:ext cx="9829800" cy="1384995"/>
          </a:xfrm>
          <a:prstGeom prst="rect">
            <a:avLst/>
          </a:prstGeom>
          <a:solidFill>
            <a:schemeClr val="bg1">
              <a:alpha val="4196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7200">
                <a:solidFill>
                  <a:schemeClr val="tx1"/>
                </a:solidFill>
                <a:latin typeface="Arial" panose="020B0604020202020204" pitchFamily="34" charset="0"/>
              </a:defRPr>
            </a:lvl1pPr>
            <a:lvl2pPr marL="742950" indent="-285750">
              <a:defRPr sz="7200">
                <a:solidFill>
                  <a:schemeClr val="tx1"/>
                </a:solidFill>
                <a:latin typeface="Arial" panose="020B0604020202020204" pitchFamily="34" charset="0"/>
              </a:defRPr>
            </a:lvl2pPr>
            <a:lvl3pPr marL="1143000" indent="-228600">
              <a:defRPr sz="7200">
                <a:solidFill>
                  <a:schemeClr val="tx1"/>
                </a:solidFill>
                <a:latin typeface="Arial" panose="020B0604020202020204" pitchFamily="34" charset="0"/>
              </a:defRPr>
            </a:lvl3pPr>
            <a:lvl4pPr marL="1600200" indent="-228600">
              <a:defRPr sz="7200">
                <a:solidFill>
                  <a:schemeClr val="tx1"/>
                </a:solidFill>
                <a:latin typeface="Arial" panose="020B0604020202020204" pitchFamily="34" charset="0"/>
              </a:defRPr>
            </a:lvl4pPr>
            <a:lvl5pPr marL="2057400" indent="-228600">
              <a:defRPr sz="7200">
                <a:solidFill>
                  <a:schemeClr val="tx1"/>
                </a:solidFill>
                <a:latin typeface="Arial" panose="020B0604020202020204" pitchFamily="34" charset="0"/>
              </a:defRPr>
            </a:lvl5pPr>
            <a:lvl6pPr marL="2514600" indent="-228600" defTabSz="3686175" eaLnBrk="0" fontAlgn="base" hangingPunct="0">
              <a:spcBef>
                <a:spcPct val="0"/>
              </a:spcBef>
              <a:spcAft>
                <a:spcPct val="0"/>
              </a:spcAft>
              <a:defRPr sz="7200">
                <a:solidFill>
                  <a:schemeClr val="tx1"/>
                </a:solidFill>
                <a:latin typeface="Arial" panose="020B0604020202020204" pitchFamily="34" charset="0"/>
              </a:defRPr>
            </a:lvl6pPr>
            <a:lvl7pPr marL="2971800" indent="-228600" defTabSz="3686175" eaLnBrk="0" fontAlgn="base" hangingPunct="0">
              <a:spcBef>
                <a:spcPct val="0"/>
              </a:spcBef>
              <a:spcAft>
                <a:spcPct val="0"/>
              </a:spcAft>
              <a:defRPr sz="7200">
                <a:solidFill>
                  <a:schemeClr val="tx1"/>
                </a:solidFill>
                <a:latin typeface="Arial" panose="020B0604020202020204" pitchFamily="34" charset="0"/>
              </a:defRPr>
            </a:lvl7pPr>
            <a:lvl8pPr marL="3429000" indent="-228600" defTabSz="3686175" eaLnBrk="0" fontAlgn="base" hangingPunct="0">
              <a:spcBef>
                <a:spcPct val="0"/>
              </a:spcBef>
              <a:spcAft>
                <a:spcPct val="0"/>
              </a:spcAft>
              <a:defRPr sz="7200">
                <a:solidFill>
                  <a:schemeClr val="tx1"/>
                </a:solidFill>
                <a:latin typeface="Arial" panose="020B0604020202020204" pitchFamily="34" charset="0"/>
              </a:defRPr>
            </a:lvl8pPr>
            <a:lvl9pPr marL="3886200" indent="-228600" defTabSz="3686175" eaLnBrk="0" fontAlgn="base" hangingPunct="0">
              <a:spcBef>
                <a:spcPct val="0"/>
              </a:spcBef>
              <a:spcAft>
                <a:spcPct val="0"/>
              </a:spcAft>
              <a:defRPr sz="7200">
                <a:solidFill>
                  <a:schemeClr val="tx1"/>
                </a:solidFill>
                <a:latin typeface="Arial" panose="020B0604020202020204" pitchFamily="34" charset="0"/>
              </a:defRPr>
            </a:lvl9pPr>
          </a:lstStyle>
          <a:p>
            <a:pPr algn="just" eaLnBrk="1" hangingPunct="1">
              <a:spcBef>
                <a:spcPts val="0"/>
              </a:spcBef>
              <a:spcAft>
                <a:spcPts val="0"/>
              </a:spcAft>
              <a:buClr>
                <a:schemeClr val="tx2"/>
              </a:buClr>
            </a:pPr>
            <a:r>
              <a:rPr lang="en-US" sz="2800" b="1" dirty="0">
                <a:solidFill>
                  <a:srgbClr val="0070C0"/>
                </a:solidFill>
                <a:cs typeface="Arial" panose="020B0604020202020204" pitchFamily="34" charset="0"/>
              </a:rPr>
              <a:t>Graph 1</a:t>
            </a:r>
            <a:r>
              <a:rPr lang="en-US" sz="2800" dirty="0">
                <a:cs typeface="Arial" panose="020B0604020202020204" pitchFamily="34" charset="0"/>
              </a:rPr>
              <a:t>. </a:t>
            </a:r>
            <a:r>
              <a:rPr lang="en-US" sz="2800" i="1" dirty="0">
                <a:cs typeface="Arial" panose="020B0604020202020204" pitchFamily="34" charset="0"/>
              </a:rPr>
              <a:t>SCLC = Small Cell Lung Cancer; NSCLC = Non-Small Cell Lung Cancer (includes adenocarcinoma and squamous cell carcinoma). Total sample size n=300</a:t>
            </a:r>
            <a:r>
              <a:rPr lang="en-US" altLang="en-US" sz="2800" i="1" dirty="0">
                <a:cs typeface="Arial" panose="020B0604020202020204" pitchFamily="34" charset="0"/>
              </a:rPr>
              <a:t> </a:t>
            </a:r>
          </a:p>
        </p:txBody>
      </p:sp>
      <p:sp>
        <p:nvSpPr>
          <p:cNvPr id="25" name="TextBox 87">
            <a:extLst>
              <a:ext uri="{FF2B5EF4-FFF2-40B4-BE49-F238E27FC236}">
                <a16:creationId xmlns:a16="http://schemas.microsoft.com/office/drawing/2014/main" id="{C71829AF-6711-D774-AAA8-50D4257B579B}"/>
              </a:ext>
            </a:extLst>
          </p:cNvPr>
          <p:cNvSpPr txBox="1">
            <a:spLocks noChangeArrowheads="1"/>
          </p:cNvSpPr>
          <p:nvPr/>
        </p:nvSpPr>
        <p:spPr bwMode="auto">
          <a:xfrm>
            <a:off x="33119617" y="30289618"/>
            <a:ext cx="9850436"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7200">
                <a:solidFill>
                  <a:schemeClr val="tx1"/>
                </a:solidFill>
                <a:latin typeface="Arial" panose="020B0604020202020204" pitchFamily="34" charset="0"/>
              </a:defRPr>
            </a:lvl1pPr>
            <a:lvl2pPr marL="742950" indent="-285750">
              <a:defRPr sz="7200">
                <a:solidFill>
                  <a:schemeClr val="tx1"/>
                </a:solidFill>
                <a:latin typeface="Arial" panose="020B0604020202020204" pitchFamily="34" charset="0"/>
              </a:defRPr>
            </a:lvl2pPr>
            <a:lvl3pPr marL="1143000" indent="-228600">
              <a:defRPr sz="7200">
                <a:solidFill>
                  <a:schemeClr val="tx1"/>
                </a:solidFill>
                <a:latin typeface="Arial" panose="020B0604020202020204" pitchFamily="34" charset="0"/>
              </a:defRPr>
            </a:lvl3pPr>
            <a:lvl4pPr marL="1600200" indent="-228600">
              <a:defRPr sz="7200">
                <a:solidFill>
                  <a:schemeClr val="tx1"/>
                </a:solidFill>
                <a:latin typeface="Arial" panose="020B0604020202020204" pitchFamily="34" charset="0"/>
              </a:defRPr>
            </a:lvl4pPr>
            <a:lvl5pPr marL="2057400" indent="-228600">
              <a:defRPr sz="7200">
                <a:solidFill>
                  <a:schemeClr val="tx1"/>
                </a:solidFill>
                <a:latin typeface="Arial" panose="020B0604020202020204" pitchFamily="34" charset="0"/>
              </a:defRPr>
            </a:lvl5pPr>
            <a:lvl6pPr marL="2514600" indent="-228600" defTabSz="3686175" eaLnBrk="0" fontAlgn="base" hangingPunct="0">
              <a:spcBef>
                <a:spcPct val="0"/>
              </a:spcBef>
              <a:spcAft>
                <a:spcPct val="0"/>
              </a:spcAft>
              <a:defRPr sz="7200">
                <a:solidFill>
                  <a:schemeClr val="tx1"/>
                </a:solidFill>
                <a:latin typeface="Arial" panose="020B0604020202020204" pitchFamily="34" charset="0"/>
              </a:defRPr>
            </a:lvl6pPr>
            <a:lvl7pPr marL="2971800" indent="-228600" defTabSz="3686175" eaLnBrk="0" fontAlgn="base" hangingPunct="0">
              <a:spcBef>
                <a:spcPct val="0"/>
              </a:spcBef>
              <a:spcAft>
                <a:spcPct val="0"/>
              </a:spcAft>
              <a:defRPr sz="7200">
                <a:solidFill>
                  <a:schemeClr val="tx1"/>
                </a:solidFill>
                <a:latin typeface="Arial" panose="020B0604020202020204" pitchFamily="34" charset="0"/>
              </a:defRPr>
            </a:lvl7pPr>
            <a:lvl8pPr marL="3429000" indent="-228600" defTabSz="3686175" eaLnBrk="0" fontAlgn="base" hangingPunct="0">
              <a:spcBef>
                <a:spcPct val="0"/>
              </a:spcBef>
              <a:spcAft>
                <a:spcPct val="0"/>
              </a:spcAft>
              <a:defRPr sz="7200">
                <a:solidFill>
                  <a:schemeClr val="tx1"/>
                </a:solidFill>
                <a:latin typeface="Arial" panose="020B0604020202020204" pitchFamily="34" charset="0"/>
              </a:defRPr>
            </a:lvl8pPr>
            <a:lvl9pPr marL="3886200" indent="-228600" defTabSz="3686175" eaLnBrk="0" fontAlgn="base" hangingPunct="0">
              <a:spcBef>
                <a:spcPct val="0"/>
              </a:spcBef>
              <a:spcAft>
                <a:spcPct val="0"/>
              </a:spcAft>
              <a:defRPr sz="7200">
                <a:solidFill>
                  <a:schemeClr val="tx1"/>
                </a:solidFill>
                <a:latin typeface="Arial" panose="020B0604020202020204" pitchFamily="34" charset="0"/>
              </a:defRPr>
            </a:lvl9pPr>
          </a:lstStyle>
          <a:p>
            <a:pPr algn="just">
              <a:spcBef>
                <a:spcPts val="0"/>
              </a:spcBef>
              <a:spcAft>
                <a:spcPts val="0"/>
              </a:spcAft>
            </a:pPr>
            <a:r>
              <a:rPr lang="en-US" altLang="en-US" sz="2400" dirty="0">
                <a:solidFill>
                  <a:srgbClr val="000000"/>
                </a:solidFill>
                <a:ea typeface="MS PGothic" panose="020B0600070205080204" pitchFamily="34" charset="-128"/>
                <a:cs typeface="Arial" panose="020B0604020202020204" pitchFamily="34" charset="0"/>
              </a:rPr>
              <a:t>Research for this project was supported by </a:t>
            </a:r>
            <a:r>
              <a:rPr lang="en-US" sz="2400" dirty="0">
                <a:solidFill>
                  <a:srgbClr val="000000"/>
                </a:solidFill>
                <a:ea typeface="MS PGothic" panose="020B0600070205080204" pitchFamily="34" charset="-128"/>
                <a:cs typeface="Arial" panose="020B0604020202020204" pitchFamily="34" charset="0"/>
              </a:rPr>
              <a:t>This research was conducted with support from the Summer Cancer Research Education Program (SCREP) at Morehouse School of Medicine. Special thanks to Dr. Isac for mentorship, and Ms. Creighton and Dr. Singh for their continued support.</a:t>
            </a:r>
          </a:p>
          <a:p>
            <a:pPr>
              <a:spcBef>
                <a:spcPts val="0"/>
              </a:spcBef>
              <a:spcAft>
                <a:spcPts val="0"/>
              </a:spcAft>
            </a:pPr>
            <a:r>
              <a:rPr lang="en-US" sz="2400" dirty="0">
                <a:solidFill>
                  <a:schemeClr val="accent2">
                    <a:lumMod val="75000"/>
                  </a:schemeClr>
                </a:solidFill>
                <a:ea typeface="MS PGothic" panose="020B0600070205080204" pitchFamily="34" charset="-128"/>
                <a:cs typeface="Arial" panose="020B0604020202020204" pitchFamily="34" charset="0"/>
              </a:rPr>
              <a:t>Contact: Zoli Smith, Emory University| Email: zgsmit2@emory.edu</a:t>
            </a:r>
          </a:p>
          <a:p>
            <a:pPr eaLnBrk="1" hangingPunct="1">
              <a:spcBef>
                <a:spcPts val="0"/>
              </a:spcBef>
              <a:spcAft>
                <a:spcPts val="0"/>
              </a:spcAft>
            </a:pPr>
            <a:endParaRPr lang="en-US" altLang="en-US" sz="3200" dirty="0">
              <a:solidFill>
                <a:srgbClr val="000000"/>
              </a:solidFill>
              <a:ea typeface="MS PGothic" panose="020B0600070205080204" pitchFamily="34" charset="-128"/>
              <a:cs typeface="Arial" panose="020B0604020202020204" pitchFamily="34" charset="0"/>
            </a:endParaRPr>
          </a:p>
        </p:txBody>
      </p:sp>
      <p:graphicFrame>
        <p:nvGraphicFramePr>
          <p:cNvPr id="28" name="Chart 27">
            <a:extLst>
              <a:ext uri="{FF2B5EF4-FFF2-40B4-BE49-F238E27FC236}">
                <a16:creationId xmlns:a16="http://schemas.microsoft.com/office/drawing/2014/main" id="{0FE2F84A-5D81-A37F-34E7-DDBA55EECC54}"/>
              </a:ext>
            </a:extLst>
          </p:cNvPr>
          <p:cNvGraphicFramePr>
            <a:graphicFrameLocks/>
          </p:cNvGraphicFramePr>
          <p:nvPr>
            <p:extLst>
              <p:ext uri="{D42A27DB-BD31-4B8C-83A1-F6EECF244321}">
                <p14:modId xmlns:p14="http://schemas.microsoft.com/office/powerpoint/2010/main" val="733274384"/>
              </p:ext>
            </p:extLst>
          </p:nvPr>
        </p:nvGraphicFramePr>
        <p:xfrm>
          <a:off x="21117719" y="24345475"/>
          <a:ext cx="12165411" cy="7599650"/>
        </p:xfrm>
        <a:graphic>
          <a:graphicData uri="http://schemas.openxmlformats.org/drawingml/2006/chart">
            <c:chart xmlns:c="http://schemas.openxmlformats.org/drawingml/2006/chart" xmlns:r="http://schemas.openxmlformats.org/officeDocument/2006/relationships" r:id="rId2"/>
          </a:graphicData>
        </a:graphic>
      </p:graphicFrame>
      <p:sp>
        <p:nvSpPr>
          <p:cNvPr id="29" name="TextBox 28">
            <a:extLst>
              <a:ext uri="{FF2B5EF4-FFF2-40B4-BE49-F238E27FC236}">
                <a16:creationId xmlns:a16="http://schemas.microsoft.com/office/drawing/2014/main" id="{E5D879F3-8DF7-0880-5CAC-22045C86815D}"/>
              </a:ext>
            </a:extLst>
          </p:cNvPr>
          <p:cNvSpPr txBox="1"/>
          <p:nvPr/>
        </p:nvSpPr>
        <p:spPr>
          <a:xfrm>
            <a:off x="33146999" y="26470347"/>
            <a:ext cx="9489280" cy="954107"/>
          </a:xfrm>
          <a:prstGeom prst="rect">
            <a:avLst/>
          </a:prstGeom>
          <a:noFill/>
        </p:spPr>
        <p:txBody>
          <a:bodyPr wrap="square" rtlCol="0">
            <a:spAutoFit/>
          </a:bodyPr>
          <a:lstStyle/>
          <a:p>
            <a:pPr>
              <a:spcBef>
                <a:spcPts val="0"/>
              </a:spcBef>
              <a:spcAft>
                <a:spcPts val="0"/>
              </a:spcAft>
            </a:pPr>
            <a:r>
              <a:rPr lang="en-US" sz="2800" b="1" dirty="0">
                <a:solidFill>
                  <a:srgbClr val="0070C0"/>
                </a:solidFill>
              </a:rPr>
              <a:t>Graph 4. </a:t>
            </a:r>
            <a:r>
              <a:rPr lang="en-US" sz="2800" i="1" dirty="0">
                <a:latin typeface="Arial" panose="020B0604020202020204" pitchFamily="34" charset="0"/>
                <a:cs typeface="Arial" panose="020B0604020202020204" pitchFamily="34" charset="0"/>
              </a:rPr>
              <a:t>p&lt;0.05 for Black vs White comparison; OR 2.13 (95% CI: 1.15-3.94)</a:t>
            </a:r>
            <a:endParaRPr lang="es-ES_tradnl" sz="2800" i="1" dirty="0">
              <a:latin typeface="Arial" panose="020B0604020202020204" pitchFamily="34" charset="0"/>
              <a:cs typeface="Arial" panose="020B0604020202020204" pitchFamily="34" charset="0"/>
            </a:endParaRPr>
          </a:p>
        </p:txBody>
      </p:sp>
      <p:graphicFrame>
        <p:nvGraphicFramePr>
          <p:cNvPr id="30" name="Chart 29">
            <a:extLst>
              <a:ext uri="{FF2B5EF4-FFF2-40B4-BE49-F238E27FC236}">
                <a16:creationId xmlns:a16="http://schemas.microsoft.com/office/drawing/2014/main" id="{0A3F8C35-8B1F-1862-7727-3209644A5C32}"/>
              </a:ext>
            </a:extLst>
          </p:cNvPr>
          <p:cNvGraphicFramePr>
            <a:graphicFrameLocks/>
          </p:cNvGraphicFramePr>
          <p:nvPr>
            <p:extLst>
              <p:ext uri="{D42A27DB-BD31-4B8C-83A1-F6EECF244321}">
                <p14:modId xmlns:p14="http://schemas.microsoft.com/office/powerpoint/2010/main" val="3807948297"/>
              </p:ext>
            </p:extLst>
          </p:nvPr>
        </p:nvGraphicFramePr>
        <p:xfrm>
          <a:off x="33446511" y="19001537"/>
          <a:ext cx="8791652" cy="7491432"/>
        </p:xfrm>
        <a:graphic>
          <a:graphicData uri="http://schemas.openxmlformats.org/drawingml/2006/chart">
            <c:chart xmlns:c="http://schemas.openxmlformats.org/drawingml/2006/chart" xmlns:r="http://schemas.openxmlformats.org/officeDocument/2006/relationships" r:id="rId3"/>
          </a:graphicData>
        </a:graphic>
      </p:graphicFrame>
      <p:cxnSp>
        <p:nvCxnSpPr>
          <p:cNvPr id="33" name="Straight Connector 30">
            <a:extLst>
              <a:ext uri="{FF2B5EF4-FFF2-40B4-BE49-F238E27FC236}">
                <a16:creationId xmlns:a16="http://schemas.microsoft.com/office/drawing/2014/main" id="{2B324947-5D3B-A669-2010-A313C786FD5F}"/>
              </a:ext>
            </a:extLst>
          </p:cNvPr>
          <p:cNvCxnSpPr>
            <a:cxnSpLocks noChangeShapeType="1"/>
          </p:cNvCxnSpPr>
          <p:nvPr/>
        </p:nvCxnSpPr>
        <p:spPr bwMode="auto">
          <a:xfrm>
            <a:off x="11020424" y="6523038"/>
            <a:ext cx="0" cy="25654022"/>
          </a:xfrm>
          <a:prstGeom prst="line">
            <a:avLst/>
          </a:prstGeom>
          <a:noFill/>
          <a:ln w="2540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4" name="Straight Connector 30">
            <a:extLst>
              <a:ext uri="{FF2B5EF4-FFF2-40B4-BE49-F238E27FC236}">
                <a16:creationId xmlns:a16="http://schemas.microsoft.com/office/drawing/2014/main" id="{70DC15CB-1537-6AD9-DE10-C956C66A13A3}"/>
              </a:ext>
            </a:extLst>
          </p:cNvPr>
          <p:cNvCxnSpPr>
            <a:cxnSpLocks noChangeShapeType="1"/>
          </p:cNvCxnSpPr>
          <p:nvPr/>
        </p:nvCxnSpPr>
        <p:spPr bwMode="auto">
          <a:xfrm>
            <a:off x="21901784" y="6648587"/>
            <a:ext cx="0" cy="25654022"/>
          </a:xfrm>
          <a:prstGeom prst="line">
            <a:avLst/>
          </a:prstGeom>
          <a:noFill/>
          <a:ln w="2540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5" name="Straight Connector 30">
            <a:extLst>
              <a:ext uri="{FF2B5EF4-FFF2-40B4-BE49-F238E27FC236}">
                <a16:creationId xmlns:a16="http://schemas.microsoft.com/office/drawing/2014/main" id="{CCFC40E2-5D29-C86D-C1DC-906AA3C7C865}"/>
              </a:ext>
            </a:extLst>
          </p:cNvPr>
          <p:cNvCxnSpPr>
            <a:cxnSpLocks noChangeShapeType="1"/>
          </p:cNvCxnSpPr>
          <p:nvPr/>
        </p:nvCxnSpPr>
        <p:spPr bwMode="auto">
          <a:xfrm>
            <a:off x="32594816" y="6523038"/>
            <a:ext cx="0" cy="25654022"/>
          </a:xfrm>
          <a:prstGeom prst="line">
            <a:avLst/>
          </a:prstGeom>
          <a:noFill/>
          <a:ln w="25400" algn="ctr">
            <a:solidFill>
              <a:schemeClr val="tx1"/>
            </a:solidFill>
            <a:prstDash val="dash"/>
            <a:round/>
            <a:headEnd/>
            <a:tailEnd/>
          </a:ln>
          <a:extLst>
            <a:ext uri="{909E8E84-426E-40DD-AFC4-6F175D3DCCD1}">
              <a14:hiddenFill xmlns:a14="http://schemas.microsoft.com/office/drawing/2010/main">
                <a:noFill/>
              </a14:hiddenFill>
            </a:ext>
          </a:extLst>
        </p:spPr>
      </p:cxnSp>
      <p:sp>
        <p:nvSpPr>
          <p:cNvPr id="36" name="Rectangle 5">
            <a:extLst>
              <a:ext uri="{FF2B5EF4-FFF2-40B4-BE49-F238E27FC236}">
                <a16:creationId xmlns:a16="http://schemas.microsoft.com/office/drawing/2014/main" id="{8D5381E2-CD63-4288-3994-1AF893454AE3}"/>
              </a:ext>
            </a:extLst>
          </p:cNvPr>
          <p:cNvSpPr>
            <a:spLocks noChangeArrowheads="1"/>
          </p:cNvSpPr>
          <p:nvPr/>
        </p:nvSpPr>
        <p:spPr bwMode="auto">
          <a:xfrm>
            <a:off x="428625" y="477838"/>
            <a:ext cx="41224200" cy="2862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43" tIns="45614" rIns="91243" bIns="45614">
            <a:spAutoFit/>
          </a:bodyPr>
          <a:lstStyle>
            <a:lvl1pPr>
              <a:defRPr sz="2900">
                <a:solidFill>
                  <a:schemeClr val="tx1"/>
                </a:solidFill>
                <a:latin typeface="Arial Narrow" charset="0"/>
                <a:ea typeface="ＭＳ Ｐゴシック" charset="-128"/>
              </a:defRPr>
            </a:lvl1pPr>
            <a:lvl2pPr marL="37931725" indent="-37474525">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pPr defTabSz="3686861" eaLnBrk="1" fontAlgn="auto" hangingPunct="1">
              <a:spcBef>
                <a:spcPts val="0"/>
              </a:spcBef>
              <a:spcAft>
                <a:spcPts val="0"/>
              </a:spcAft>
              <a:defRPr/>
            </a:pPr>
            <a:r>
              <a:rPr lang="en-US" sz="7200" i="1" dirty="0">
                <a:solidFill>
                  <a:schemeClr val="bg1"/>
                </a:solidFill>
              </a:rPr>
              <a:t>Survival Outcomes in Glioblastoma Patients by Race and Access to Advanced Neurological Treatment</a:t>
            </a:r>
          </a:p>
          <a:p>
            <a:pPr defTabSz="3686861" eaLnBrk="1" fontAlgn="auto" hangingPunct="1">
              <a:spcBef>
                <a:spcPts val="0"/>
              </a:spcBef>
              <a:spcAft>
                <a:spcPts val="0"/>
              </a:spcAft>
              <a:defRPr/>
            </a:pPr>
            <a:r>
              <a:rPr lang="en-US" altLang="en-US" sz="4400" dirty="0">
                <a:solidFill>
                  <a:srgbClr val="FFFFFF"/>
                </a:solidFill>
                <a:latin typeface="+mn-lt"/>
                <a:ea typeface="Arial" charset="0"/>
              </a:rPr>
              <a:t>Kandace N. Bryant; John Isac, MD MS; Justyn Dawson</a:t>
            </a:r>
          </a:p>
          <a:p>
            <a:pPr defTabSz="3686861" eaLnBrk="1" fontAlgn="auto" hangingPunct="1">
              <a:spcBef>
                <a:spcPts val="0"/>
              </a:spcBef>
              <a:spcAft>
                <a:spcPts val="0"/>
              </a:spcAft>
              <a:defRPr/>
            </a:pPr>
            <a:r>
              <a:rPr lang="en-US" altLang="en-US" sz="3200" dirty="0">
                <a:solidFill>
                  <a:schemeClr val="bg1"/>
                </a:solidFill>
                <a:latin typeface="Calibri" panose="020F0502020204030204" pitchFamily="34" charset="0"/>
              </a:rPr>
              <a:t>Undergraduate Cancer Health Equity Research Equity Research and Training Program (UCHERTP)</a:t>
            </a:r>
            <a:endParaRPr lang="en-US" altLang="en-US" sz="3200" dirty="0">
              <a:solidFill>
                <a:schemeClr val="bg1"/>
              </a:solidFill>
              <a:latin typeface="+mn-lt"/>
              <a:ea typeface="Arial" charset="0"/>
            </a:endParaRPr>
          </a:p>
          <a:p>
            <a:pPr defTabSz="3686861" eaLnBrk="1" fontAlgn="auto" hangingPunct="1">
              <a:spcBef>
                <a:spcPts val="0"/>
              </a:spcBef>
              <a:spcAft>
                <a:spcPts val="0"/>
              </a:spcAft>
              <a:defRPr/>
            </a:pPr>
            <a:r>
              <a:rPr lang="en-US" altLang="en-US" sz="3200" dirty="0">
                <a:solidFill>
                  <a:srgbClr val="FFFFFF"/>
                </a:solidFill>
                <a:latin typeface="+mn-lt"/>
                <a:ea typeface="Arial" charset="0"/>
              </a:rPr>
              <a:t>Morehouse School of Medicine</a:t>
            </a:r>
          </a:p>
        </p:txBody>
      </p:sp>
      <p:sp>
        <p:nvSpPr>
          <p:cNvPr id="37" name="Rectangle 36">
            <a:extLst>
              <a:ext uri="{FF2B5EF4-FFF2-40B4-BE49-F238E27FC236}">
                <a16:creationId xmlns:a16="http://schemas.microsoft.com/office/drawing/2014/main" id="{E3629643-7C77-220B-7FDB-B69E274A2164}"/>
              </a:ext>
            </a:extLst>
          </p:cNvPr>
          <p:cNvSpPr/>
          <p:nvPr/>
        </p:nvSpPr>
        <p:spPr>
          <a:xfrm>
            <a:off x="0" y="-1"/>
            <a:ext cx="32577668" cy="58257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5">
            <a:extLst>
              <a:ext uri="{FF2B5EF4-FFF2-40B4-BE49-F238E27FC236}">
                <a16:creationId xmlns:a16="http://schemas.microsoft.com/office/drawing/2014/main" id="{E0CAAE2E-5FC2-216D-6043-2B6DABD68FFD}"/>
              </a:ext>
            </a:extLst>
          </p:cNvPr>
          <p:cNvSpPr>
            <a:spLocks noChangeArrowheads="1"/>
          </p:cNvSpPr>
          <p:nvPr/>
        </p:nvSpPr>
        <p:spPr bwMode="auto">
          <a:xfrm>
            <a:off x="114110" y="-136667"/>
            <a:ext cx="32081757" cy="5801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243" tIns="45614" rIns="91243" bIns="45614">
            <a:spAutoFit/>
          </a:bodyPr>
          <a:lstStyle>
            <a:lvl1pPr>
              <a:defRPr sz="2900">
                <a:solidFill>
                  <a:schemeClr val="tx1"/>
                </a:solidFill>
                <a:latin typeface="Arial Narrow" charset="0"/>
                <a:ea typeface="ＭＳ Ｐゴシック" charset="-128"/>
              </a:defRPr>
            </a:lvl1pPr>
            <a:lvl2pPr marL="37931725" indent="-37474525">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pPr defTabSz="3686861">
              <a:defRPr/>
            </a:pPr>
            <a:r>
              <a:rPr lang="en-US" altLang="en-US" sz="7300" i="1" dirty="0">
                <a:solidFill>
                  <a:srgbClr val="FFFFFF"/>
                </a:solidFill>
                <a:latin typeface="+mn-lt"/>
              </a:rPr>
              <a:t>Small-Cell (SCLC) Versus </a:t>
            </a:r>
            <a:r>
              <a:rPr lang="en-US" sz="7300" i="1" dirty="0">
                <a:solidFill>
                  <a:srgbClr val="FFFFFF"/>
                </a:solidFill>
                <a:latin typeface="+mn-lt"/>
              </a:rPr>
              <a:t>Non–Small-Cell Lung Cancer (NSCLC) Among African American Patients Comparable to Those at Grady Health System: Subtype Distributions and Associations with Smoking and Socioeconomic Status</a:t>
            </a:r>
          </a:p>
          <a:p>
            <a:pPr algn="just" defTabSz="3686861">
              <a:defRPr/>
            </a:pPr>
            <a:endParaRPr lang="en-US" altLang="en-US" sz="4800" dirty="0">
              <a:solidFill>
                <a:srgbClr val="FFFFFF"/>
              </a:solidFill>
            </a:endParaRPr>
          </a:p>
          <a:p>
            <a:pPr defTabSz="3686861">
              <a:defRPr/>
            </a:pPr>
            <a:r>
              <a:rPr lang="en-US" sz="5200" dirty="0">
                <a:solidFill>
                  <a:srgbClr val="FFFFFF"/>
                </a:solidFill>
              </a:rPr>
              <a:t>Smith, Zoli, BA; Isac, John, MD MS</a:t>
            </a:r>
          </a:p>
          <a:p>
            <a:pPr defTabSz="3686861">
              <a:defRPr/>
            </a:pPr>
            <a:r>
              <a:rPr lang="en-US" altLang="en-US" sz="5200" dirty="0">
                <a:solidFill>
                  <a:srgbClr val="FFFFFF"/>
                </a:solidFill>
              </a:rPr>
              <a:t>Emory University, Morehouse School of Medicine</a:t>
            </a:r>
          </a:p>
        </p:txBody>
      </p:sp>
      <p:pic>
        <p:nvPicPr>
          <p:cNvPr id="39" name="Picture 16" descr="Morehouse School Of Medicine Logo ...">
            <a:extLst>
              <a:ext uri="{FF2B5EF4-FFF2-40B4-BE49-F238E27FC236}">
                <a16:creationId xmlns:a16="http://schemas.microsoft.com/office/drawing/2014/main" id="{43D84216-DE25-83E0-C8B7-E51A9D422A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46511" y="2006314"/>
            <a:ext cx="8571620" cy="187114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0" name="Chart 39">
            <a:extLst>
              <a:ext uri="{FF2B5EF4-FFF2-40B4-BE49-F238E27FC236}">
                <a16:creationId xmlns:a16="http://schemas.microsoft.com/office/drawing/2014/main" id="{F8262EB5-590B-1C8B-BAA6-DB2051C7AEE9}"/>
              </a:ext>
            </a:extLst>
          </p:cNvPr>
          <p:cNvGraphicFramePr>
            <a:graphicFrameLocks/>
          </p:cNvGraphicFramePr>
          <p:nvPr>
            <p:extLst>
              <p:ext uri="{D42A27DB-BD31-4B8C-83A1-F6EECF244321}">
                <p14:modId xmlns:p14="http://schemas.microsoft.com/office/powerpoint/2010/main" val="2521357170"/>
              </p:ext>
            </p:extLst>
          </p:nvPr>
        </p:nvGraphicFramePr>
        <p:xfrm>
          <a:off x="11132629" y="10352267"/>
          <a:ext cx="10741093" cy="850163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41" name="Chart 40">
            <a:extLst>
              <a:ext uri="{FF2B5EF4-FFF2-40B4-BE49-F238E27FC236}">
                <a16:creationId xmlns:a16="http://schemas.microsoft.com/office/drawing/2014/main" id="{A89A15AB-7D74-9635-9201-3CAF202AEBBF}"/>
              </a:ext>
            </a:extLst>
          </p:cNvPr>
          <p:cNvGraphicFramePr>
            <a:graphicFrameLocks/>
          </p:cNvGraphicFramePr>
          <p:nvPr>
            <p:extLst>
              <p:ext uri="{D42A27DB-BD31-4B8C-83A1-F6EECF244321}">
                <p14:modId xmlns:p14="http://schemas.microsoft.com/office/powerpoint/2010/main" val="3984965779"/>
              </p:ext>
            </p:extLst>
          </p:nvPr>
        </p:nvGraphicFramePr>
        <p:xfrm>
          <a:off x="11508716" y="20735664"/>
          <a:ext cx="9988920" cy="10517176"/>
        </p:xfrm>
        <a:graphic>
          <a:graphicData uri="http://schemas.openxmlformats.org/drawingml/2006/chart">
            <c:chart xmlns:c="http://schemas.openxmlformats.org/drawingml/2006/chart" xmlns:r="http://schemas.openxmlformats.org/officeDocument/2006/relationships" r:id="rId6"/>
          </a:graphicData>
        </a:graphic>
      </p:graphicFrame>
      <p:sp>
        <p:nvSpPr>
          <p:cNvPr id="44" name="TextBox 43">
            <a:extLst>
              <a:ext uri="{FF2B5EF4-FFF2-40B4-BE49-F238E27FC236}">
                <a16:creationId xmlns:a16="http://schemas.microsoft.com/office/drawing/2014/main" id="{59F9F088-BAF9-D56C-F03B-2CDB9253BA27}"/>
              </a:ext>
            </a:extLst>
          </p:cNvPr>
          <p:cNvSpPr txBox="1"/>
          <p:nvPr/>
        </p:nvSpPr>
        <p:spPr>
          <a:xfrm>
            <a:off x="12001325" y="30732555"/>
            <a:ext cx="8575017" cy="1384995"/>
          </a:xfrm>
          <a:prstGeom prst="rect">
            <a:avLst/>
          </a:prstGeom>
          <a:noFill/>
        </p:spPr>
        <p:txBody>
          <a:bodyPr wrap="square" rtlCol="0">
            <a:spAutoFit/>
          </a:bodyPr>
          <a:lstStyle/>
          <a:p>
            <a:pPr algn="just"/>
            <a:r>
              <a:rPr lang="en-US" sz="2800" b="1" dirty="0">
                <a:solidFill>
                  <a:srgbClr val="0070C0"/>
                </a:solidFill>
                <a:latin typeface="Arial" panose="020B0604020202020204" pitchFamily="34" charset="0"/>
                <a:cs typeface="Arial" panose="020B0604020202020204" pitchFamily="34" charset="0"/>
              </a:rPr>
              <a:t>Graph 2</a:t>
            </a:r>
            <a:r>
              <a:rPr lang="en-US" sz="2800" dirty="0">
                <a:latin typeface="Arial" panose="020B0604020202020204" pitchFamily="34" charset="0"/>
                <a:cs typeface="Arial" panose="020B0604020202020204" pitchFamily="34" charset="0"/>
              </a:rPr>
              <a:t>. </a:t>
            </a:r>
            <a:r>
              <a:rPr lang="en-US" sz="2800" i="1" dirty="0">
                <a:latin typeface="Arial" panose="020B0604020202020204" pitchFamily="34" charset="0"/>
                <a:cs typeface="Arial" panose="020B0604020202020204" pitchFamily="34" charset="0"/>
              </a:rPr>
              <a:t>Study population: 61.0% African American, 19.3% White, 9.0% Hispanic, 5.0% Asian, 4.7% Other</a:t>
            </a:r>
            <a:endParaRPr lang="es-ES_tradnl" sz="2800" i="1" dirty="0">
              <a:latin typeface="Arial" panose="020B0604020202020204" pitchFamily="34" charset="0"/>
              <a:cs typeface="Arial" panose="020B0604020202020204" pitchFamily="34" charset="0"/>
            </a:endParaRPr>
          </a:p>
        </p:txBody>
      </p:sp>
      <p:graphicFrame>
        <p:nvGraphicFramePr>
          <p:cNvPr id="45" name="Chart 44">
            <a:extLst>
              <a:ext uri="{FF2B5EF4-FFF2-40B4-BE49-F238E27FC236}">
                <a16:creationId xmlns:a16="http://schemas.microsoft.com/office/drawing/2014/main" id="{1629247E-01AE-3A43-B9F5-5897CD0E9532}"/>
              </a:ext>
            </a:extLst>
          </p:cNvPr>
          <p:cNvGraphicFramePr>
            <a:graphicFrameLocks/>
          </p:cNvGraphicFramePr>
          <p:nvPr>
            <p:extLst>
              <p:ext uri="{D42A27DB-BD31-4B8C-83A1-F6EECF244321}">
                <p14:modId xmlns:p14="http://schemas.microsoft.com/office/powerpoint/2010/main" val="1360523150"/>
              </p:ext>
            </p:extLst>
          </p:nvPr>
        </p:nvGraphicFramePr>
        <p:xfrm>
          <a:off x="22204980" y="23830707"/>
          <a:ext cx="9990887" cy="7077852"/>
        </p:xfrm>
        <a:graphic>
          <a:graphicData uri="http://schemas.openxmlformats.org/drawingml/2006/chart">
            <c:chart xmlns:c="http://schemas.openxmlformats.org/drawingml/2006/chart" xmlns:r="http://schemas.openxmlformats.org/officeDocument/2006/relationships" r:id="rId7"/>
          </a:graphicData>
        </a:graphic>
      </p:graphicFrame>
      <p:sp>
        <p:nvSpPr>
          <p:cNvPr id="46" name="TextBox 45">
            <a:extLst>
              <a:ext uri="{FF2B5EF4-FFF2-40B4-BE49-F238E27FC236}">
                <a16:creationId xmlns:a16="http://schemas.microsoft.com/office/drawing/2014/main" id="{021ABADA-5F15-19F4-809F-53B3AC0C707C}"/>
              </a:ext>
            </a:extLst>
          </p:cNvPr>
          <p:cNvSpPr txBox="1"/>
          <p:nvPr/>
        </p:nvSpPr>
        <p:spPr>
          <a:xfrm>
            <a:off x="22344041" y="30470164"/>
            <a:ext cx="9783762" cy="1815882"/>
          </a:xfrm>
          <a:prstGeom prst="rect">
            <a:avLst/>
          </a:prstGeom>
          <a:noFill/>
        </p:spPr>
        <p:txBody>
          <a:bodyPr wrap="square" rtlCol="0">
            <a:spAutoFit/>
          </a:bodyPr>
          <a:lstStyle/>
          <a:p>
            <a:pPr algn="just"/>
            <a:r>
              <a:rPr lang="en-US" sz="2800" b="1" dirty="0">
                <a:solidFill>
                  <a:srgbClr val="0070C0"/>
                </a:solidFill>
                <a:latin typeface="Arial" panose="020B0604020202020204" pitchFamily="34" charset="0"/>
                <a:cs typeface="Arial" panose="020B0604020202020204" pitchFamily="34" charset="0"/>
              </a:rPr>
              <a:t>Graph 3</a:t>
            </a:r>
            <a:r>
              <a:rPr lang="en-US" sz="2800" dirty="0">
                <a:latin typeface="Arial" panose="020B0604020202020204" pitchFamily="34" charset="0"/>
                <a:cs typeface="Arial" panose="020B0604020202020204" pitchFamily="34" charset="0"/>
              </a:rPr>
              <a:t>. </a:t>
            </a:r>
            <a:r>
              <a:rPr lang="en-US" sz="2800" i="1" dirty="0">
                <a:latin typeface="Arial" panose="020B0604020202020204" pitchFamily="34" charset="0"/>
                <a:cs typeface="Arial" panose="020B0604020202020204" pitchFamily="34" charset="0"/>
              </a:rPr>
              <a:t>Advanced disease predominated at diagnosis: 69% of patients presented with Stage III-IV disease (28.0% Stage III, 41.0% Stage IV), while only 31% were diagnosed at early stages (12.0% Stage I, 19.0% Stage II)</a:t>
            </a:r>
            <a:endParaRPr lang="es-ES_tradnl" sz="2800" i="1" dirty="0">
              <a:latin typeface="Arial" panose="020B0604020202020204" pitchFamily="34" charset="0"/>
              <a:cs typeface="Arial" panose="020B0604020202020204" pitchFamily="34" charset="0"/>
            </a:endParaRPr>
          </a:p>
        </p:txBody>
      </p:sp>
      <p:sp>
        <p:nvSpPr>
          <p:cNvPr id="2" name="TextBox 3">
            <a:extLst>
              <a:ext uri="{FF2B5EF4-FFF2-40B4-BE49-F238E27FC236}">
                <a16:creationId xmlns:a16="http://schemas.microsoft.com/office/drawing/2014/main" id="{A7D8F036-D16C-2946-22C9-8AE78721F06C}"/>
              </a:ext>
            </a:extLst>
          </p:cNvPr>
          <p:cNvSpPr txBox="1">
            <a:spLocks noChangeArrowheads="1"/>
          </p:cNvSpPr>
          <p:nvPr/>
        </p:nvSpPr>
        <p:spPr bwMode="auto">
          <a:xfrm>
            <a:off x="898127" y="14434615"/>
            <a:ext cx="9829800" cy="6771084"/>
          </a:xfrm>
          <a:prstGeom prst="rect">
            <a:avLst/>
          </a:prstGeom>
          <a:solidFill>
            <a:schemeClr val="bg1">
              <a:alpha val="6313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7200">
                <a:solidFill>
                  <a:schemeClr val="tx1"/>
                </a:solidFill>
                <a:latin typeface="Arial" panose="020B0604020202020204" pitchFamily="34" charset="0"/>
              </a:defRPr>
            </a:lvl1pPr>
            <a:lvl2pPr marL="742950" indent="-285750">
              <a:defRPr sz="7200">
                <a:solidFill>
                  <a:schemeClr val="tx1"/>
                </a:solidFill>
                <a:latin typeface="Arial" panose="020B0604020202020204" pitchFamily="34" charset="0"/>
              </a:defRPr>
            </a:lvl2pPr>
            <a:lvl3pPr marL="1143000" indent="-228600">
              <a:defRPr sz="7200">
                <a:solidFill>
                  <a:schemeClr val="tx1"/>
                </a:solidFill>
                <a:latin typeface="Arial" panose="020B0604020202020204" pitchFamily="34" charset="0"/>
              </a:defRPr>
            </a:lvl3pPr>
            <a:lvl4pPr marL="1600200" indent="-228600">
              <a:defRPr sz="7200">
                <a:solidFill>
                  <a:schemeClr val="tx1"/>
                </a:solidFill>
                <a:latin typeface="Arial" panose="020B0604020202020204" pitchFamily="34" charset="0"/>
              </a:defRPr>
            </a:lvl4pPr>
            <a:lvl5pPr marL="2057400" indent="-228600">
              <a:defRPr sz="7200">
                <a:solidFill>
                  <a:schemeClr val="tx1"/>
                </a:solidFill>
                <a:latin typeface="Arial" panose="020B0604020202020204" pitchFamily="34" charset="0"/>
              </a:defRPr>
            </a:lvl5pPr>
            <a:lvl6pPr marL="2514600" indent="-228600" defTabSz="3686175" eaLnBrk="0" fontAlgn="base" hangingPunct="0">
              <a:spcBef>
                <a:spcPct val="0"/>
              </a:spcBef>
              <a:spcAft>
                <a:spcPct val="0"/>
              </a:spcAft>
              <a:defRPr sz="7200">
                <a:solidFill>
                  <a:schemeClr val="tx1"/>
                </a:solidFill>
                <a:latin typeface="Arial" panose="020B0604020202020204" pitchFamily="34" charset="0"/>
              </a:defRPr>
            </a:lvl6pPr>
            <a:lvl7pPr marL="2971800" indent="-228600" defTabSz="3686175" eaLnBrk="0" fontAlgn="base" hangingPunct="0">
              <a:spcBef>
                <a:spcPct val="0"/>
              </a:spcBef>
              <a:spcAft>
                <a:spcPct val="0"/>
              </a:spcAft>
              <a:defRPr sz="7200">
                <a:solidFill>
                  <a:schemeClr val="tx1"/>
                </a:solidFill>
                <a:latin typeface="Arial" panose="020B0604020202020204" pitchFamily="34" charset="0"/>
              </a:defRPr>
            </a:lvl7pPr>
            <a:lvl8pPr marL="3429000" indent="-228600" defTabSz="3686175" eaLnBrk="0" fontAlgn="base" hangingPunct="0">
              <a:spcBef>
                <a:spcPct val="0"/>
              </a:spcBef>
              <a:spcAft>
                <a:spcPct val="0"/>
              </a:spcAft>
              <a:defRPr sz="7200">
                <a:solidFill>
                  <a:schemeClr val="tx1"/>
                </a:solidFill>
                <a:latin typeface="Arial" panose="020B0604020202020204" pitchFamily="34" charset="0"/>
              </a:defRPr>
            </a:lvl8pPr>
            <a:lvl9pPr marL="3886200" indent="-228600" defTabSz="3686175" eaLnBrk="0" fontAlgn="base" hangingPunct="0">
              <a:spcBef>
                <a:spcPct val="0"/>
              </a:spcBef>
              <a:spcAft>
                <a:spcPct val="0"/>
              </a:spcAft>
              <a:defRPr sz="7200">
                <a:solidFill>
                  <a:schemeClr val="tx1"/>
                </a:solidFill>
                <a:latin typeface="Arial" panose="020B0604020202020204" pitchFamily="34" charset="0"/>
              </a:defRPr>
            </a:lvl9pPr>
          </a:lstStyle>
          <a:p>
            <a:pPr algn="ctr">
              <a:spcBef>
                <a:spcPts val="0"/>
              </a:spcBef>
              <a:spcAft>
                <a:spcPts val="0"/>
              </a:spcAft>
            </a:pPr>
            <a:r>
              <a:rPr lang="en-US" sz="5000" b="1" dirty="0">
                <a:solidFill>
                  <a:srgbClr val="005BBB"/>
                </a:solidFill>
                <a:cs typeface="Arial" panose="020B0604020202020204" pitchFamily="34" charset="0"/>
              </a:rPr>
              <a:t>Research Focus</a:t>
            </a:r>
          </a:p>
          <a:p>
            <a:pPr marL="342900" indent="-342900" algn="just">
              <a:spcBef>
                <a:spcPts val="0"/>
              </a:spcBef>
              <a:spcAft>
                <a:spcPts val="0"/>
              </a:spcAft>
              <a:buFont typeface="Arial" panose="020B0604020202020204" pitchFamily="34" charset="0"/>
              <a:buChar char="•"/>
            </a:pPr>
            <a:r>
              <a:rPr lang="en-US" sz="3200" dirty="0">
                <a:cs typeface="Arial" panose="020B0604020202020204" pitchFamily="34" charset="0"/>
              </a:rPr>
              <a:t>Small-cell lung cancer (SCLC) which represents 15-20% of lung cancer cases and carries a significantly poor prognosis.</a:t>
            </a:r>
          </a:p>
          <a:p>
            <a:pPr marL="342900" indent="-342900" algn="just">
              <a:spcBef>
                <a:spcPts val="0"/>
              </a:spcBef>
              <a:spcAft>
                <a:spcPts val="0"/>
              </a:spcAft>
              <a:buFont typeface="Arial" panose="020B0604020202020204" pitchFamily="34" charset="0"/>
              <a:buChar char="•"/>
            </a:pPr>
            <a:endParaRPr lang="en-US" sz="3200" dirty="0">
              <a:cs typeface="Arial" panose="020B0604020202020204" pitchFamily="34" charset="0"/>
            </a:endParaRPr>
          </a:p>
          <a:p>
            <a:pPr marL="342900" indent="-342900" algn="just">
              <a:spcBef>
                <a:spcPts val="0"/>
              </a:spcBef>
              <a:spcAft>
                <a:spcPts val="0"/>
              </a:spcAft>
              <a:buFont typeface="Arial" panose="020B0604020202020204" pitchFamily="34" charset="0"/>
              <a:buChar char="•"/>
            </a:pPr>
            <a:r>
              <a:rPr lang="en-US" sz="3200" dirty="0">
                <a:cs typeface="Arial" panose="020B0604020202020204" pitchFamily="34" charset="0"/>
              </a:rPr>
              <a:t>Current gap knowledge: it is unclear whether African American patients are more likely to develop aggressive SCLC.</a:t>
            </a:r>
          </a:p>
          <a:p>
            <a:pPr marL="342900" indent="-342900" algn="just">
              <a:spcBef>
                <a:spcPts val="0"/>
              </a:spcBef>
              <a:spcAft>
                <a:spcPts val="0"/>
              </a:spcAft>
              <a:buFont typeface="Arial" panose="020B0604020202020204" pitchFamily="34" charset="0"/>
              <a:buChar char="•"/>
            </a:pPr>
            <a:endParaRPr lang="en-US" sz="3200" dirty="0">
              <a:cs typeface="Arial" panose="020B0604020202020204" pitchFamily="34" charset="0"/>
            </a:endParaRPr>
          </a:p>
          <a:p>
            <a:pPr marL="342900" indent="-342900" algn="just">
              <a:spcBef>
                <a:spcPts val="0"/>
              </a:spcBef>
              <a:spcAft>
                <a:spcPts val="0"/>
              </a:spcAft>
              <a:buFont typeface="Arial" panose="020B0604020202020204" pitchFamily="34" charset="0"/>
              <a:buChar char="•"/>
            </a:pPr>
            <a:r>
              <a:rPr lang="en-US" sz="3200" dirty="0">
                <a:cs typeface="Arial" panose="020B0604020202020204" pitchFamily="34" charset="0"/>
              </a:rPr>
              <a:t>Investigation of the intersection between histological patterns and social determinant of health to better understand disparities in disease progression and outcomes.</a:t>
            </a:r>
            <a:endParaRPr lang="en-US" altLang="en-US" sz="3200" dirty="0">
              <a:cs typeface="Arial" panose="020B0604020202020204" pitchFamily="34" charset="0"/>
            </a:endParaRPr>
          </a:p>
        </p:txBody>
      </p:sp>
      <p:cxnSp>
        <p:nvCxnSpPr>
          <p:cNvPr id="16" name="Straight Connector 30">
            <a:extLst>
              <a:ext uri="{FF2B5EF4-FFF2-40B4-BE49-F238E27FC236}">
                <a16:creationId xmlns:a16="http://schemas.microsoft.com/office/drawing/2014/main" id="{8B5782A0-6292-87E5-6BA9-DB2E9FBEFB6C}"/>
              </a:ext>
            </a:extLst>
          </p:cNvPr>
          <p:cNvCxnSpPr>
            <a:cxnSpLocks noChangeShapeType="1"/>
          </p:cNvCxnSpPr>
          <p:nvPr/>
        </p:nvCxnSpPr>
        <p:spPr bwMode="auto">
          <a:xfrm>
            <a:off x="832513" y="14398715"/>
            <a:ext cx="9783763" cy="0"/>
          </a:xfrm>
          <a:prstGeom prst="line">
            <a:avLst/>
          </a:prstGeom>
          <a:noFill/>
          <a:ln w="25400" algn="ctr">
            <a:solidFill>
              <a:schemeClr val="tx1"/>
            </a:solidFill>
            <a:prstDash val="dash"/>
            <a:round/>
            <a:headEnd/>
            <a:tailEnd/>
          </a:ln>
          <a:extLst>
            <a:ext uri="{909E8E84-426E-40DD-AFC4-6F175D3DCCD1}">
              <a14:hiddenFill xmlns:a14="http://schemas.microsoft.com/office/drawing/2010/main">
                <a:noFill/>
              </a14:hiddenFill>
            </a:ext>
          </a:extLst>
        </p:spPr>
      </p:cxnSp>
      <p:graphicFrame>
        <p:nvGraphicFramePr>
          <p:cNvPr id="26" name="Table 25">
            <a:extLst>
              <a:ext uri="{FF2B5EF4-FFF2-40B4-BE49-F238E27FC236}">
                <a16:creationId xmlns:a16="http://schemas.microsoft.com/office/drawing/2014/main" id="{267FFE7D-0D95-5D8F-D1F7-8DDFE2701F00}"/>
              </a:ext>
            </a:extLst>
          </p:cNvPr>
          <p:cNvGraphicFramePr>
            <a:graphicFrameLocks noGrp="1"/>
          </p:cNvGraphicFramePr>
          <p:nvPr>
            <p:extLst>
              <p:ext uri="{D42A27DB-BD31-4B8C-83A1-F6EECF244321}">
                <p14:modId xmlns:p14="http://schemas.microsoft.com/office/powerpoint/2010/main" val="704204599"/>
              </p:ext>
            </p:extLst>
          </p:nvPr>
        </p:nvGraphicFramePr>
        <p:xfrm>
          <a:off x="11772156" y="7076490"/>
          <a:ext cx="9783764" cy="2834640"/>
        </p:xfrm>
        <a:graphic>
          <a:graphicData uri="http://schemas.openxmlformats.org/drawingml/2006/table">
            <a:tbl>
              <a:tblPr firstRow="1" bandRow="1">
                <a:tableStyleId>{5940675A-B579-460E-94D1-54222C63F5DA}</a:tableStyleId>
              </a:tblPr>
              <a:tblGrid>
                <a:gridCol w="4891882">
                  <a:extLst>
                    <a:ext uri="{9D8B030D-6E8A-4147-A177-3AD203B41FA5}">
                      <a16:colId xmlns:a16="http://schemas.microsoft.com/office/drawing/2014/main" val="1582456830"/>
                    </a:ext>
                  </a:extLst>
                </a:gridCol>
                <a:gridCol w="4891882">
                  <a:extLst>
                    <a:ext uri="{9D8B030D-6E8A-4147-A177-3AD203B41FA5}">
                      <a16:colId xmlns:a16="http://schemas.microsoft.com/office/drawing/2014/main" val="720596631"/>
                    </a:ext>
                  </a:extLst>
                </a:gridCol>
              </a:tblGrid>
              <a:tr h="873988">
                <a:tc rowSpan="3">
                  <a:txBody>
                    <a:bodyPr/>
                    <a:lstStyle/>
                    <a:p>
                      <a:pPr algn="ctr"/>
                      <a:r>
                        <a:rPr lang="en-US" sz="2800" b="1" dirty="0"/>
                        <a:t>Data Elements Collected</a:t>
                      </a:r>
                    </a:p>
                  </a:txBody>
                  <a:tcPr anchor="ctr"/>
                </a:tc>
                <a:tc>
                  <a:txBody>
                    <a:bodyPr/>
                    <a:lstStyle/>
                    <a:p>
                      <a:r>
                        <a:rPr lang="en-US" sz="2800" dirty="0"/>
                        <a:t>Patient </a:t>
                      </a:r>
                    </a:p>
                    <a:p>
                      <a:r>
                        <a:rPr lang="en-US" sz="2800" dirty="0"/>
                        <a:t>demographics</a:t>
                      </a:r>
                    </a:p>
                  </a:txBody>
                  <a:tcPr/>
                </a:tc>
                <a:extLst>
                  <a:ext uri="{0D108BD9-81ED-4DB2-BD59-A6C34878D82A}">
                    <a16:rowId xmlns:a16="http://schemas.microsoft.com/office/drawing/2014/main" val="367024144"/>
                  </a:ext>
                </a:extLst>
              </a:tr>
              <a:tr h="853620">
                <a:tc vMerge="1">
                  <a:txBody>
                    <a:bodyPr/>
                    <a:lstStyle/>
                    <a:p>
                      <a:endParaRPr lang="en-US" sz="3800" dirty="0"/>
                    </a:p>
                  </a:txBody>
                  <a:tcPr/>
                </a:tc>
                <a:tc>
                  <a:txBody>
                    <a:bodyPr/>
                    <a:lstStyle/>
                    <a:p>
                      <a:r>
                        <a:rPr lang="en-US" sz="2800" dirty="0"/>
                        <a:t>Histological </a:t>
                      </a:r>
                    </a:p>
                    <a:p>
                      <a:r>
                        <a:rPr lang="en-US" sz="2800" dirty="0"/>
                        <a:t>distribution</a:t>
                      </a:r>
                    </a:p>
                  </a:txBody>
                  <a:tcPr/>
                </a:tc>
                <a:extLst>
                  <a:ext uri="{0D108BD9-81ED-4DB2-BD59-A6C34878D82A}">
                    <a16:rowId xmlns:a16="http://schemas.microsoft.com/office/drawing/2014/main" val="2328333923"/>
                  </a:ext>
                </a:extLst>
              </a:tr>
              <a:tr h="873988">
                <a:tc vMerge="1">
                  <a:txBody>
                    <a:bodyPr/>
                    <a:lstStyle/>
                    <a:p>
                      <a:endParaRPr lang="en-US" sz="3800" dirty="0"/>
                    </a:p>
                  </a:txBody>
                  <a:tcPr/>
                </a:tc>
                <a:tc>
                  <a:txBody>
                    <a:bodyPr/>
                    <a:lstStyle/>
                    <a:p>
                      <a:r>
                        <a:rPr lang="en-US" sz="2800" dirty="0"/>
                        <a:t>Stage </a:t>
                      </a:r>
                    </a:p>
                    <a:p>
                      <a:r>
                        <a:rPr lang="en-US" sz="2800" dirty="0"/>
                        <a:t>disparities</a:t>
                      </a:r>
                    </a:p>
                  </a:txBody>
                  <a:tcPr/>
                </a:tc>
                <a:extLst>
                  <a:ext uri="{0D108BD9-81ED-4DB2-BD59-A6C34878D82A}">
                    <a16:rowId xmlns:a16="http://schemas.microsoft.com/office/drawing/2014/main" val="1021929677"/>
                  </a:ext>
                </a:extLst>
              </a:tr>
            </a:tbl>
          </a:graphicData>
        </a:graphic>
      </p:graphicFrame>
      <p:sp>
        <p:nvSpPr>
          <p:cNvPr id="32" name="TextBox 39">
            <a:extLst>
              <a:ext uri="{FF2B5EF4-FFF2-40B4-BE49-F238E27FC236}">
                <a16:creationId xmlns:a16="http://schemas.microsoft.com/office/drawing/2014/main" id="{CDD088A5-C2ED-FA35-6E90-CB508A24FD16}"/>
              </a:ext>
            </a:extLst>
          </p:cNvPr>
          <p:cNvSpPr txBox="1">
            <a:spLocks noChangeArrowheads="1"/>
          </p:cNvSpPr>
          <p:nvPr/>
        </p:nvSpPr>
        <p:spPr bwMode="auto">
          <a:xfrm>
            <a:off x="32783144" y="6340762"/>
            <a:ext cx="10069778" cy="5786199"/>
          </a:xfrm>
          <a:prstGeom prst="rect">
            <a:avLst/>
          </a:prstGeom>
          <a:solidFill>
            <a:schemeClr val="bg1">
              <a:alpha val="6313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7200">
                <a:solidFill>
                  <a:schemeClr val="tx1"/>
                </a:solidFill>
                <a:latin typeface="Arial" panose="020B0604020202020204" pitchFamily="34" charset="0"/>
              </a:defRPr>
            </a:lvl1pPr>
            <a:lvl2pPr marL="914400" indent="-457200">
              <a:defRPr sz="7200">
                <a:solidFill>
                  <a:schemeClr val="tx1"/>
                </a:solidFill>
                <a:latin typeface="Arial" panose="020B0604020202020204" pitchFamily="34" charset="0"/>
              </a:defRPr>
            </a:lvl2pPr>
            <a:lvl3pPr marL="1143000" indent="-228600">
              <a:defRPr sz="7200">
                <a:solidFill>
                  <a:schemeClr val="tx1"/>
                </a:solidFill>
                <a:latin typeface="Arial" panose="020B0604020202020204" pitchFamily="34" charset="0"/>
              </a:defRPr>
            </a:lvl3pPr>
            <a:lvl4pPr marL="1600200" indent="-228600">
              <a:defRPr sz="7200">
                <a:solidFill>
                  <a:schemeClr val="tx1"/>
                </a:solidFill>
                <a:latin typeface="Arial" panose="020B0604020202020204" pitchFamily="34" charset="0"/>
              </a:defRPr>
            </a:lvl4pPr>
            <a:lvl5pPr marL="2057400" indent="-228600">
              <a:defRPr sz="7200">
                <a:solidFill>
                  <a:schemeClr val="tx1"/>
                </a:solidFill>
                <a:latin typeface="Arial" panose="020B0604020202020204" pitchFamily="34" charset="0"/>
              </a:defRPr>
            </a:lvl5pPr>
            <a:lvl6pPr marL="2514600" indent="-228600" defTabSz="3686175" eaLnBrk="0" fontAlgn="base" hangingPunct="0">
              <a:spcBef>
                <a:spcPct val="0"/>
              </a:spcBef>
              <a:spcAft>
                <a:spcPct val="0"/>
              </a:spcAft>
              <a:defRPr sz="7200">
                <a:solidFill>
                  <a:schemeClr val="tx1"/>
                </a:solidFill>
                <a:latin typeface="Arial" panose="020B0604020202020204" pitchFamily="34" charset="0"/>
              </a:defRPr>
            </a:lvl6pPr>
            <a:lvl7pPr marL="2971800" indent="-228600" defTabSz="3686175" eaLnBrk="0" fontAlgn="base" hangingPunct="0">
              <a:spcBef>
                <a:spcPct val="0"/>
              </a:spcBef>
              <a:spcAft>
                <a:spcPct val="0"/>
              </a:spcAft>
              <a:defRPr sz="7200">
                <a:solidFill>
                  <a:schemeClr val="tx1"/>
                </a:solidFill>
                <a:latin typeface="Arial" panose="020B0604020202020204" pitchFamily="34" charset="0"/>
              </a:defRPr>
            </a:lvl7pPr>
            <a:lvl8pPr marL="3429000" indent="-228600" defTabSz="3686175" eaLnBrk="0" fontAlgn="base" hangingPunct="0">
              <a:spcBef>
                <a:spcPct val="0"/>
              </a:spcBef>
              <a:spcAft>
                <a:spcPct val="0"/>
              </a:spcAft>
              <a:defRPr sz="7200">
                <a:solidFill>
                  <a:schemeClr val="tx1"/>
                </a:solidFill>
                <a:latin typeface="Arial" panose="020B0604020202020204" pitchFamily="34" charset="0"/>
              </a:defRPr>
            </a:lvl8pPr>
            <a:lvl9pPr marL="3886200" indent="-228600" defTabSz="3686175" eaLnBrk="0" fontAlgn="base" hangingPunct="0">
              <a:spcBef>
                <a:spcPct val="0"/>
              </a:spcBef>
              <a:spcAft>
                <a:spcPct val="0"/>
              </a:spcAft>
              <a:defRPr sz="7200">
                <a:solidFill>
                  <a:schemeClr val="tx1"/>
                </a:solidFill>
                <a:latin typeface="Arial" panose="020B0604020202020204" pitchFamily="34" charset="0"/>
              </a:defRPr>
            </a:lvl9pPr>
          </a:lstStyle>
          <a:p>
            <a:pPr algn="just">
              <a:spcBef>
                <a:spcPts val="0"/>
              </a:spcBef>
              <a:spcAft>
                <a:spcPts val="0"/>
              </a:spcAft>
            </a:pPr>
            <a:r>
              <a:rPr lang="en-US" sz="5000" b="1" dirty="0">
                <a:solidFill>
                  <a:srgbClr val="005BBB"/>
                </a:solidFill>
                <a:cs typeface="Arial" panose="020B0604020202020204" pitchFamily="34" charset="0"/>
              </a:rPr>
              <a:t>Clinical Implications</a:t>
            </a:r>
          </a:p>
          <a:p>
            <a:pPr marL="342900" indent="-342900" algn="just">
              <a:spcBef>
                <a:spcPts val="0"/>
              </a:spcBef>
              <a:spcAft>
                <a:spcPts val="0"/>
              </a:spcAft>
              <a:buFont typeface="Arial" panose="020B0604020202020204" pitchFamily="34" charset="0"/>
              <a:buChar char="•"/>
            </a:pPr>
            <a:r>
              <a:rPr lang="en-US" sz="3200" b="1" dirty="0">
                <a:cs typeface="Arial" panose="020B0604020202020204" pitchFamily="34" charset="0"/>
              </a:rPr>
              <a:t>Hypothesis refuted</a:t>
            </a:r>
            <a:r>
              <a:rPr lang="en-US" sz="3200" dirty="0">
                <a:cs typeface="Arial" panose="020B0604020202020204" pitchFamily="34" charset="0"/>
              </a:rPr>
              <a:t>: African American patients did not exhibit higher rates of aggressive SCLC, contrary to initial expectations.</a:t>
            </a:r>
          </a:p>
          <a:p>
            <a:pPr marL="342900" indent="-342900" algn="just">
              <a:spcBef>
                <a:spcPts val="0"/>
              </a:spcBef>
              <a:spcAft>
                <a:spcPts val="0"/>
              </a:spcAft>
              <a:buFont typeface="Arial" panose="020B0604020202020204" pitchFamily="34" charset="0"/>
              <a:buChar char="•"/>
            </a:pPr>
            <a:r>
              <a:rPr lang="en-US" sz="3200" b="1" dirty="0">
                <a:cs typeface="Arial" panose="020B0604020202020204" pitchFamily="34" charset="0"/>
              </a:rPr>
              <a:t>Key disparity identified</a:t>
            </a:r>
            <a:r>
              <a:rPr lang="en-US" sz="3200" dirty="0">
                <a:cs typeface="Arial" panose="020B0604020202020204" pitchFamily="34" charset="0"/>
              </a:rPr>
              <a:t>: African American patients were significantly more likely to present with advanced stage disease, when adjusting for socioeconomic factors.</a:t>
            </a:r>
          </a:p>
          <a:p>
            <a:pPr marL="342900" indent="-342900" algn="just">
              <a:spcBef>
                <a:spcPts val="0"/>
              </a:spcBef>
              <a:spcAft>
                <a:spcPts val="0"/>
              </a:spcAft>
              <a:buFont typeface="Arial" panose="020B0604020202020204" pitchFamily="34" charset="0"/>
              <a:buChar char="•"/>
            </a:pPr>
            <a:r>
              <a:rPr lang="en-US" sz="3200" b="1" dirty="0">
                <a:cs typeface="Arial" panose="020B0604020202020204" pitchFamily="34" charset="0"/>
              </a:rPr>
              <a:t>Positive finding</a:t>
            </a:r>
            <a:r>
              <a:rPr lang="en-US" sz="3200" dirty="0">
                <a:cs typeface="Arial" panose="020B0604020202020204" pitchFamily="34" charset="0"/>
              </a:rPr>
              <a:t>: Access to treatment was consistent across all racial groups with the safety-net hospital system.</a:t>
            </a:r>
          </a:p>
        </p:txBody>
      </p:sp>
      <p:cxnSp>
        <p:nvCxnSpPr>
          <p:cNvPr id="42" name="Straight Connector 40">
            <a:extLst>
              <a:ext uri="{FF2B5EF4-FFF2-40B4-BE49-F238E27FC236}">
                <a16:creationId xmlns:a16="http://schemas.microsoft.com/office/drawing/2014/main" id="{A5A228CB-16D6-FBE3-FBB1-A47F74202F08}"/>
              </a:ext>
            </a:extLst>
          </p:cNvPr>
          <p:cNvCxnSpPr>
            <a:cxnSpLocks noChangeShapeType="1"/>
          </p:cNvCxnSpPr>
          <p:nvPr/>
        </p:nvCxnSpPr>
        <p:spPr bwMode="auto">
          <a:xfrm>
            <a:off x="32910409" y="12175445"/>
            <a:ext cx="9785350" cy="0"/>
          </a:xfrm>
          <a:prstGeom prst="line">
            <a:avLst/>
          </a:prstGeom>
          <a:noFill/>
          <a:ln w="2540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43" name="Straight Connector 30">
            <a:extLst>
              <a:ext uri="{FF2B5EF4-FFF2-40B4-BE49-F238E27FC236}">
                <a16:creationId xmlns:a16="http://schemas.microsoft.com/office/drawing/2014/main" id="{64482DB2-C704-AC58-7257-5CA7245696A1}"/>
              </a:ext>
            </a:extLst>
          </p:cNvPr>
          <p:cNvCxnSpPr>
            <a:cxnSpLocks noChangeShapeType="1"/>
          </p:cNvCxnSpPr>
          <p:nvPr/>
        </p:nvCxnSpPr>
        <p:spPr bwMode="auto">
          <a:xfrm>
            <a:off x="960437" y="9982293"/>
            <a:ext cx="9783763" cy="0"/>
          </a:xfrm>
          <a:prstGeom prst="line">
            <a:avLst/>
          </a:prstGeom>
          <a:noFill/>
          <a:ln w="25400" algn="ctr">
            <a:solidFill>
              <a:schemeClr val="tx1"/>
            </a:solidFill>
            <a:prstDash val="dash"/>
            <a:round/>
            <a:headEnd/>
            <a:tailEnd/>
          </a:ln>
          <a:extLst>
            <a:ext uri="{909E8E84-426E-40DD-AFC4-6F175D3DCCD1}">
              <a14:hiddenFill xmlns:a14="http://schemas.microsoft.com/office/drawing/2010/main">
                <a:noFill/>
              </a14:hiddenFill>
            </a:ext>
          </a:extLst>
        </p:spPr>
      </p:cxnSp>
      <p:sp>
        <p:nvSpPr>
          <p:cNvPr id="47" name="TextBox 46">
            <a:extLst>
              <a:ext uri="{FF2B5EF4-FFF2-40B4-BE49-F238E27FC236}">
                <a16:creationId xmlns:a16="http://schemas.microsoft.com/office/drawing/2014/main" id="{75FE93B9-0632-29C6-6A5F-778AABDBEAF5}"/>
              </a:ext>
            </a:extLst>
          </p:cNvPr>
          <p:cNvSpPr txBox="1">
            <a:spLocks noChangeArrowheads="1"/>
          </p:cNvSpPr>
          <p:nvPr/>
        </p:nvSpPr>
        <p:spPr bwMode="auto">
          <a:xfrm>
            <a:off x="786476" y="6065612"/>
            <a:ext cx="982980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7200">
                <a:solidFill>
                  <a:schemeClr val="tx1"/>
                </a:solidFill>
                <a:latin typeface="Arial" panose="020B0604020202020204" pitchFamily="34" charset="0"/>
              </a:defRPr>
            </a:lvl1pPr>
            <a:lvl2pPr marL="742950" indent="-285750">
              <a:defRPr sz="7200">
                <a:solidFill>
                  <a:schemeClr val="tx1"/>
                </a:solidFill>
                <a:latin typeface="Arial" panose="020B0604020202020204" pitchFamily="34" charset="0"/>
              </a:defRPr>
            </a:lvl2pPr>
            <a:lvl3pPr marL="1143000" indent="-228600">
              <a:defRPr sz="7200">
                <a:solidFill>
                  <a:schemeClr val="tx1"/>
                </a:solidFill>
                <a:latin typeface="Arial" panose="020B0604020202020204" pitchFamily="34" charset="0"/>
              </a:defRPr>
            </a:lvl3pPr>
            <a:lvl4pPr marL="1600200" indent="-228600">
              <a:defRPr sz="7200">
                <a:solidFill>
                  <a:schemeClr val="tx1"/>
                </a:solidFill>
                <a:latin typeface="Arial" panose="020B0604020202020204" pitchFamily="34" charset="0"/>
              </a:defRPr>
            </a:lvl4pPr>
            <a:lvl5pPr marL="2057400" indent="-228600">
              <a:defRPr sz="7200">
                <a:solidFill>
                  <a:schemeClr val="tx1"/>
                </a:solidFill>
                <a:latin typeface="Arial" panose="020B0604020202020204" pitchFamily="34" charset="0"/>
              </a:defRPr>
            </a:lvl5pPr>
            <a:lvl6pPr marL="2514600" indent="-228600" defTabSz="3686175" eaLnBrk="0" fontAlgn="base" hangingPunct="0">
              <a:spcBef>
                <a:spcPct val="0"/>
              </a:spcBef>
              <a:spcAft>
                <a:spcPct val="0"/>
              </a:spcAft>
              <a:defRPr sz="7200">
                <a:solidFill>
                  <a:schemeClr val="tx1"/>
                </a:solidFill>
                <a:latin typeface="Arial" panose="020B0604020202020204" pitchFamily="34" charset="0"/>
              </a:defRPr>
            </a:lvl6pPr>
            <a:lvl7pPr marL="2971800" indent="-228600" defTabSz="3686175" eaLnBrk="0" fontAlgn="base" hangingPunct="0">
              <a:spcBef>
                <a:spcPct val="0"/>
              </a:spcBef>
              <a:spcAft>
                <a:spcPct val="0"/>
              </a:spcAft>
              <a:defRPr sz="7200">
                <a:solidFill>
                  <a:schemeClr val="tx1"/>
                </a:solidFill>
                <a:latin typeface="Arial" panose="020B0604020202020204" pitchFamily="34" charset="0"/>
              </a:defRPr>
            </a:lvl7pPr>
            <a:lvl8pPr marL="3429000" indent="-228600" defTabSz="3686175" eaLnBrk="0" fontAlgn="base" hangingPunct="0">
              <a:spcBef>
                <a:spcPct val="0"/>
              </a:spcBef>
              <a:spcAft>
                <a:spcPct val="0"/>
              </a:spcAft>
              <a:defRPr sz="7200">
                <a:solidFill>
                  <a:schemeClr val="tx1"/>
                </a:solidFill>
                <a:latin typeface="Arial" panose="020B0604020202020204" pitchFamily="34" charset="0"/>
              </a:defRPr>
            </a:lvl8pPr>
            <a:lvl9pPr marL="3886200" indent="-228600" defTabSz="3686175" eaLnBrk="0" fontAlgn="base" hangingPunct="0">
              <a:spcBef>
                <a:spcPct val="0"/>
              </a:spcBef>
              <a:spcAft>
                <a:spcPct val="0"/>
              </a:spcAft>
              <a:defRPr sz="7200">
                <a:solidFill>
                  <a:schemeClr val="tx1"/>
                </a:solidFill>
                <a:latin typeface="Arial" panose="020B0604020202020204" pitchFamily="34" charset="0"/>
              </a:defRPr>
            </a:lvl9pPr>
          </a:lstStyle>
          <a:p>
            <a:pPr algn="ctr" eaLnBrk="1" hangingPunct="1">
              <a:spcBef>
                <a:spcPts val="0"/>
              </a:spcBef>
              <a:spcAft>
                <a:spcPts val="0"/>
              </a:spcAft>
            </a:pPr>
            <a:r>
              <a:rPr lang="en-US" altLang="en-US" sz="5000" b="1" dirty="0">
                <a:solidFill>
                  <a:srgbClr val="005BBB"/>
                </a:solidFill>
                <a:cs typeface="Arial" panose="020B0604020202020204" pitchFamily="34" charset="0"/>
              </a:rPr>
              <a:t>The Central Question!</a:t>
            </a:r>
            <a:endParaRPr lang="en-US" altLang="en-US" sz="3200" b="1" dirty="0">
              <a:solidFill>
                <a:srgbClr val="005BBB"/>
              </a:solidFill>
              <a:cs typeface="Arial" panose="020B0604020202020204" pitchFamily="34" charset="0"/>
            </a:endParaRPr>
          </a:p>
        </p:txBody>
      </p:sp>
      <p:sp>
        <p:nvSpPr>
          <p:cNvPr id="48" name="TextBox 3">
            <a:extLst>
              <a:ext uri="{FF2B5EF4-FFF2-40B4-BE49-F238E27FC236}">
                <a16:creationId xmlns:a16="http://schemas.microsoft.com/office/drawing/2014/main" id="{81AE681E-AD4B-2A81-BC15-7879883B1320}"/>
              </a:ext>
            </a:extLst>
          </p:cNvPr>
          <p:cNvSpPr txBox="1">
            <a:spLocks noChangeArrowheads="1"/>
          </p:cNvSpPr>
          <p:nvPr/>
        </p:nvSpPr>
        <p:spPr bwMode="auto">
          <a:xfrm>
            <a:off x="676540" y="7083336"/>
            <a:ext cx="9829800" cy="2708434"/>
          </a:xfrm>
          <a:prstGeom prst="rect">
            <a:avLst/>
          </a:prstGeom>
          <a:solidFill>
            <a:schemeClr val="bg1">
              <a:alpha val="6313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7200">
                <a:solidFill>
                  <a:schemeClr val="tx1"/>
                </a:solidFill>
                <a:latin typeface="Arial" panose="020B0604020202020204" pitchFamily="34" charset="0"/>
              </a:defRPr>
            </a:lvl1pPr>
            <a:lvl2pPr marL="742950" indent="-285750">
              <a:defRPr sz="7200">
                <a:solidFill>
                  <a:schemeClr val="tx1"/>
                </a:solidFill>
                <a:latin typeface="Arial" panose="020B0604020202020204" pitchFamily="34" charset="0"/>
              </a:defRPr>
            </a:lvl2pPr>
            <a:lvl3pPr marL="1143000" indent="-228600">
              <a:defRPr sz="7200">
                <a:solidFill>
                  <a:schemeClr val="tx1"/>
                </a:solidFill>
                <a:latin typeface="Arial" panose="020B0604020202020204" pitchFamily="34" charset="0"/>
              </a:defRPr>
            </a:lvl3pPr>
            <a:lvl4pPr marL="1600200" indent="-228600">
              <a:defRPr sz="7200">
                <a:solidFill>
                  <a:schemeClr val="tx1"/>
                </a:solidFill>
                <a:latin typeface="Arial" panose="020B0604020202020204" pitchFamily="34" charset="0"/>
              </a:defRPr>
            </a:lvl4pPr>
            <a:lvl5pPr marL="2057400" indent="-228600">
              <a:defRPr sz="7200">
                <a:solidFill>
                  <a:schemeClr val="tx1"/>
                </a:solidFill>
                <a:latin typeface="Arial" panose="020B0604020202020204" pitchFamily="34" charset="0"/>
              </a:defRPr>
            </a:lvl5pPr>
            <a:lvl6pPr marL="2514600" indent="-228600" defTabSz="3686175" eaLnBrk="0" fontAlgn="base" hangingPunct="0">
              <a:spcBef>
                <a:spcPct val="0"/>
              </a:spcBef>
              <a:spcAft>
                <a:spcPct val="0"/>
              </a:spcAft>
              <a:defRPr sz="7200">
                <a:solidFill>
                  <a:schemeClr val="tx1"/>
                </a:solidFill>
                <a:latin typeface="Arial" panose="020B0604020202020204" pitchFamily="34" charset="0"/>
              </a:defRPr>
            </a:lvl6pPr>
            <a:lvl7pPr marL="2971800" indent="-228600" defTabSz="3686175" eaLnBrk="0" fontAlgn="base" hangingPunct="0">
              <a:spcBef>
                <a:spcPct val="0"/>
              </a:spcBef>
              <a:spcAft>
                <a:spcPct val="0"/>
              </a:spcAft>
              <a:defRPr sz="7200">
                <a:solidFill>
                  <a:schemeClr val="tx1"/>
                </a:solidFill>
                <a:latin typeface="Arial" panose="020B0604020202020204" pitchFamily="34" charset="0"/>
              </a:defRPr>
            </a:lvl7pPr>
            <a:lvl8pPr marL="3429000" indent="-228600" defTabSz="3686175" eaLnBrk="0" fontAlgn="base" hangingPunct="0">
              <a:spcBef>
                <a:spcPct val="0"/>
              </a:spcBef>
              <a:spcAft>
                <a:spcPct val="0"/>
              </a:spcAft>
              <a:defRPr sz="7200">
                <a:solidFill>
                  <a:schemeClr val="tx1"/>
                </a:solidFill>
                <a:latin typeface="Arial" panose="020B0604020202020204" pitchFamily="34" charset="0"/>
              </a:defRPr>
            </a:lvl8pPr>
            <a:lvl9pPr marL="3886200" indent="-228600" defTabSz="3686175" eaLnBrk="0" fontAlgn="base" hangingPunct="0">
              <a:spcBef>
                <a:spcPct val="0"/>
              </a:spcBef>
              <a:spcAft>
                <a:spcPct val="0"/>
              </a:spcAft>
              <a:defRPr sz="7200">
                <a:solidFill>
                  <a:schemeClr val="tx1"/>
                </a:solidFill>
                <a:latin typeface="Arial" panose="020B0604020202020204" pitchFamily="34" charset="0"/>
              </a:defRPr>
            </a:lvl9pPr>
          </a:lstStyle>
          <a:p>
            <a:pPr algn="just" eaLnBrk="1" hangingPunct="1">
              <a:spcBef>
                <a:spcPts val="0"/>
              </a:spcBef>
              <a:spcAft>
                <a:spcPts val="0"/>
              </a:spcAft>
            </a:pPr>
            <a:r>
              <a:rPr lang="en-US" sz="3400" b="1" i="1" dirty="0">
                <a:solidFill>
                  <a:srgbClr val="0070C0"/>
                </a:solidFill>
                <a:cs typeface="Arial" panose="020B0604020202020204" pitchFamily="34" charset="0"/>
              </a:rPr>
              <a:t>Are African American patients more likely to present with aggressive SCLC and advanced disease due to socioeconomic and biologic factors- or do disparities stem primarily form delayed diagnosis than tumor subtype?</a:t>
            </a:r>
            <a:endParaRPr lang="en-US" altLang="en-US" sz="3400" b="1" i="1" dirty="0">
              <a:solidFill>
                <a:srgbClr val="0070C0"/>
              </a:solidFill>
              <a:cs typeface="Arial" panose="020B0604020202020204" pitchFamily="34" charset="0"/>
            </a:endParaRPr>
          </a:p>
        </p:txBody>
      </p:sp>
    </p:spTree>
    <p:extLst>
      <p:ext uri="{BB962C8B-B14F-4D97-AF65-F5344CB8AC3E}">
        <p14:creationId xmlns:p14="http://schemas.microsoft.com/office/powerpoint/2010/main" val="4476088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4112</TotalTime>
  <Words>964</Words>
  <Application>Microsoft Macintosh PowerPoint</Application>
  <PresentationFormat>Custom</PresentationFormat>
  <Paragraphs>99</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MS PGothic</vt:lpstr>
      <vt:lpstr>Aptos</vt:lpstr>
      <vt:lpstr>Aptos Display</vt:lpstr>
      <vt:lpstr>Arial</vt:lpstr>
      <vt:lpstr>Calibri</vt:lpstr>
      <vt:lpstr>Office Theme</vt:lpstr>
      <vt:lpstr>PowerPoint Presentation</vt:lpstr>
    </vt:vector>
  </TitlesOfParts>
  <Company>IMTS-Ohio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Peggy Sattler</dc:creator>
  <cp:lastModifiedBy>Smith, Zoli</cp:lastModifiedBy>
  <cp:revision>90</cp:revision>
  <cp:lastPrinted>2009-08-04T13:53:20Z</cp:lastPrinted>
  <dcterms:created xsi:type="dcterms:W3CDTF">2009-08-10T20:20:21Z</dcterms:created>
  <dcterms:modified xsi:type="dcterms:W3CDTF">2026-04-27T16:04:28Z</dcterms:modified>
</cp:coreProperties>
</file>